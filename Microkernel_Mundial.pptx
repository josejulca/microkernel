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6"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475771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Saludo inicial. Presentarse y anunciar el tema: arquitectura Microkernel aplicada a un proyecto real, una extensión de navegador con datos del Mundial conectada a una API en C#. Mencionar que la exposición se basa en mostrar el código en vivo, no solo teoría.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el concepto en 30-40 segundos: nucleo minimo + plugins independientes. Mencionar la idea clave: un nucleo estable mas extensiones conectables. Senalar el mini diagrama y decir que esto se traduce directamente a clases de C# que se van a mostrar a continuacion.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por que es un solo proyecto: la arquitectura microkernel exige separacion logica, no fisica. Mostrar el explorador de soluciones real en Visual Studio si hay tiempo, senalando estas 3 carpetas mas Program.cs. Enfatizar la direccion de dependencia: plugins dependen del nucleo, nunca al reves.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Core/IPlugin.cs en Visual Studio mientras se explica. Decir: esto es como un enchufe estandar; cualquier funcionalidad nueva que quiera agregar al sistema tiene que cumplir este contrato. Name es el identificador unico, Initialize se ejecuta una sola vez al arrancar, Execute es donde esta la logica real.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Core/PluginManager.cs. Punto clave a remarcar: esta clase no tiene ni una sola linea sobre futbol, marcadores o rankings. Register agrega el plugin al diccionario (esto es el 'registro de plugins' de la teoria). Run recibe un nombre, busca el plugin y ejecuta su logica.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primero MatchScorePlugin.cs: construye el resultado y llama a Publish para avisar que ocurrio un partido. Luego mostrar PredictionPlugin.cs, solo el metodo Initialize: se suscribe al mismo evento. Explicar que ninguno de los dos sabe que el otro existe, solo conocen al IAppContext, que es el intermediario.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Mostrar Program.cs: esto es la fase de arranque del diagrama de secuencia de la teoria, el sistema crea el nucleo y registra los plugins. Luego mostrar PluginsController.cs: cuando llega una peticion a /api/plugins/matchscore, ese name se captura aqui y se delega al kernel. El controller tampoco sabe nada de futbol. Cerrar con el punto de extensibilidad: agregar un plugin nuevo no toca nucleo ni controller.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Recorrer los 5 pasos senalando cada tarjeta. Conectar explicitamente con el diagrama de secuencia visto en teoria: paso 1-2 es 'solicita una funcionalidad', paso 3 es 'busca el plugin responsable', paso 4 es 'invoca el plugin via la API', paso 5 es 'entrega la respuesta'.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resumir en una frase el rol de cada capa (nucleo generico, plugins independientes, controller traductor). Agradecer y abrir espacio a preguntas. Si preguntan por que un solo proyecto, usar la respuesta preparada sobre separacion logica vs fisica y mencionar la alternativa de carga dinamica via DLL.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2A"/>
        </a:solidFill>
        <a:effectLst/>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solidFill>
            <a:srgbClr val="0E7C7B">
              <a:alpha val="22000"/>
            </a:srgbClr>
          </a:solidFill>
          <a:ln/>
        </p:spPr>
        <p:txBody>
          <a:bodyPr/>
          <a:lstStyle/>
          <a:p>
            <a:endParaRPr lang="en-US"/>
          </a:p>
        </p:txBody>
      </p:sp>
      <p:sp>
        <p:nvSpPr>
          <p:cNvPr id="3" name="Shape 1"/>
          <p:cNvSpPr/>
          <p:nvPr/>
        </p:nvSpPr>
        <p:spPr>
          <a:xfrm>
            <a:off x="-2286000" y="4389120"/>
            <a:ext cx="5029200" cy="5029200"/>
          </a:xfrm>
          <a:prstGeom prst="ellipse">
            <a:avLst/>
          </a:prstGeom>
          <a:solidFill>
            <a:srgbClr val="02C39A">
              <a:alpha val="12000"/>
            </a:srgbClr>
          </a:solidFill>
          <a:ln/>
        </p:spPr>
        <p:txBody>
          <a:bodyPr/>
          <a:lstStyle/>
          <a:p>
            <a:endParaRPr lang="en-US"/>
          </a:p>
        </p:txBody>
      </p:sp>
      <p:pic>
        <p:nvPicPr>
          <p:cNvPr id="4" name="Image 0" descr="icon_trophy.png"/>
          <p:cNvPicPr>
            <a:picLocks noChangeAspect="1"/>
          </p:cNvPicPr>
          <p:nvPr/>
        </p:nvPicPr>
        <p:blipFill>
          <a:blip r:embed="rId3"/>
          <a:stretch>
            <a:fillRect/>
          </a:stretch>
        </p:blipFill>
        <p:spPr>
          <a:xfrm>
            <a:off x="777240" y="1417320"/>
            <a:ext cx="502920" cy="502920"/>
          </a:xfrm>
          <a:prstGeom prst="rect">
            <a:avLst/>
          </a:prstGeom>
        </p:spPr>
      </p:pic>
      <p:sp>
        <p:nvSpPr>
          <p:cNvPr id="5" name="Text 2"/>
          <p:cNvSpPr/>
          <p:nvPr/>
        </p:nvSpPr>
        <p:spPr>
          <a:xfrm>
            <a:off x="1417320" y="1463040"/>
            <a:ext cx="7315200" cy="411480"/>
          </a:xfrm>
          <a:prstGeom prst="rect">
            <a:avLst/>
          </a:prstGeom>
          <a:noFill/>
          <a:ln/>
        </p:spPr>
        <p:txBody>
          <a:bodyPr wrap="square" lIns="0" tIns="0" rIns="0" bIns="0" rtlCol="0" anchor="ctr"/>
          <a:lstStyle/>
          <a:p>
            <a:pPr marL="0" indent="0">
              <a:buNone/>
            </a:pPr>
            <a:r>
              <a:rPr lang="en-US" sz="1300" b="1" kern="0" spc="200" dirty="0">
                <a:solidFill>
                  <a:srgbClr val="BFEFE0"/>
                </a:solidFill>
                <a:latin typeface="Calibri" pitchFamily="34" charset="0"/>
                <a:ea typeface="Calibri" pitchFamily="34" charset="-122"/>
                <a:cs typeface="Calibri" pitchFamily="34" charset="-120"/>
              </a:rPr>
              <a:t>ARQUITECTURA DE SOFTWARE · MUNDIAL</a:t>
            </a:r>
            <a:endParaRPr lang="en-US" sz="1300" dirty="0"/>
          </a:p>
        </p:txBody>
      </p:sp>
      <p:sp>
        <p:nvSpPr>
          <p:cNvPr id="6" name="Text 3"/>
          <p:cNvSpPr/>
          <p:nvPr/>
        </p:nvSpPr>
        <p:spPr>
          <a:xfrm>
            <a:off x="777240" y="2286000"/>
            <a:ext cx="10515600" cy="91440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Arquitectura Microkernel</a:t>
            </a:r>
            <a:endParaRPr lang="en-US" sz="4600" dirty="0"/>
          </a:p>
        </p:txBody>
      </p:sp>
      <p:sp>
        <p:nvSpPr>
          <p:cNvPr id="7" name="Text 4"/>
          <p:cNvSpPr/>
          <p:nvPr/>
        </p:nvSpPr>
        <p:spPr>
          <a:xfrm>
            <a:off x="777240" y="3154680"/>
            <a:ext cx="10058400" cy="502920"/>
          </a:xfrm>
          <a:prstGeom prst="rect">
            <a:avLst/>
          </a:prstGeom>
          <a:noFill/>
          <a:ln/>
        </p:spPr>
        <p:txBody>
          <a:bodyPr wrap="square" lIns="0" tIns="0" rIns="0" bIns="0" rtlCol="0" anchor="ctr"/>
          <a:lstStyle/>
          <a:p>
            <a:pPr marL="0" indent="0">
              <a:buNone/>
            </a:pPr>
            <a:r>
              <a:rPr lang="en-US" sz="1800" dirty="0">
                <a:solidFill>
                  <a:srgbClr val="BFEFE0"/>
                </a:solidFill>
                <a:latin typeface="Calibri" pitchFamily="34" charset="0"/>
                <a:ea typeface="Calibri" pitchFamily="34" charset="-122"/>
                <a:cs typeface="Calibri" pitchFamily="34" charset="-120"/>
              </a:rPr>
              <a:t>Plugin del Mundial: Extensión de navegador + API en C#</a:t>
            </a:r>
            <a:endParaRPr lang="en-US" sz="1800" dirty="0"/>
          </a:p>
        </p:txBody>
      </p:sp>
      <p:sp>
        <p:nvSpPr>
          <p:cNvPr id="8" name="Shape 5"/>
          <p:cNvSpPr/>
          <p:nvPr/>
        </p:nvSpPr>
        <p:spPr>
          <a:xfrm>
            <a:off x="822960" y="4133088"/>
            <a:ext cx="91440" cy="91440"/>
          </a:xfrm>
          <a:prstGeom prst="ellipse">
            <a:avLst/>
          </a:prstGeom>
          <a:solidFill>
            <a:srgbClr val="02C39A"/>
          </a:solidFill>
          <a:ln/>
        </p:spPr>
        <p:txBody>
          <a:bodyPr/>
          <a:lstStyle/>
          <a:p>
            <a:endParaRPr lang="en-US"/>
          </a:p>
        </p:txBody>
      </p:sp>
      <p:sp>
        <p:nvSpPr>
          <p:cNvPr id="9" name="Text 6"/>
          <p:cNvSpPr/>
          <p:nvPr/>
        </p:nvSpPr>
        <p:spPr>
          <a:xfrm>
            <a:off x="1051560" y="4005072"/>
            <a:ext cx="6400800" cy="320040"/>
          </a:xfrm>
          <a:prstGeom prst="rect">
            <a:avLst/>
          </a:prstGeom>
          <a:noFill/>
          <a:ln/>
        </p:spPr>
        <p:txBody>
          <a:bodyPr wrap="square" lIns="0" tIns="0" rIns="0" bIns="0" rtlCol="0" anchor="ctr"/>
          <a:lstStyle/>
          <a:p>
            <a:pPr marL="0" indent="0">
              <a:buNone/>
            </a:pPr>
            <a:r>
              <a:rPr lang="en-US" sz="1350" dirty="0">
                <a:solidFill>
                  <a:srgbClr val="DCE7E9"/>
                </a:solidFill>
                <a:latin typeface="Calibri" pitchFamily="34" charset="0"/>
                <a:ea typeface="Calibri" pitchFamily="34" charset="-122"/>
                <a:cs typeface="Calibri" pitchFamily="34" charset="-120"/>
              </a:rPr>
              <a:t>JavaScript / HTML / CSS</a:t>
            </a:r>
            <a:endParaRPr lang="en-US" sz="1350" dirty="0"/>
          </a:p>
        </p:txBody>
      </p:sp>
      <p:sp>
        <p:nvSpPr>
          <p:cNvPr id="10" name="Shape 7"/>
          <p:cNvSpPr/>
          <p:nvPr/>
        </p:nvSpPr>
        <p:spPr>
          <a:xfrm>
            <a:off x="822960" y="4517136"/>
            <a:ext cx="91440" cy="91440"/>
          </a:xfrm>
          <a:prstGeom prst="ellipse">
            <a:avLst/>
          </a:prstGeom>
          <a:solidFill>
            <a:srgbClr val="02C39A"/>
          </a:solidFill>
          <a:ln/>
        </p:spPr>
        <p:txBody>
          <a:bodyPr/>
          <a:lstStyle/>
          <a:p>
            <a:endParaRPr lang="en-US"/>
          </a:p>
        </p:txBody>
      </p:sp>
      <p:sp>
        <p:nvSpPr>
          <p:cNvPr id="11" name="Text 8"/>
          <p:cNvSpPr/>
          <p:nvPr/>
        </p:nvSpPr>
        <p:spPr>
          <a:xfrm>
            <a:off x="1051560" y="4389120"/>
            <a:ext cx="6400800" cy="320040"/>
          </a:xfrm>
          <a:prstGeom prst="rect">
            <a:avLst/>
          </a:prstGeom>
          <a:noFill/>
          <a:ln/>
        </p:spPr>
        <p:txBody>
          <a:bodyPr wrap="square" lIns="0" tIns="0" rIns="0" bIns="0" rtlCol="0" anchor="ctr"/>
          <a:lstStyle/>
          <a:p>
            <a:pPr marL="0" indent="0">
              <a:buNone/>
            </a:pPr>
            <a:r>
              <a:rPr lang="en-US" sz="1350" dirty="0">
                <a:solidFill>
                  <a:srgbClr val="DCE7E9"/>
                </a:solidFill>
                <a:latin typeface="Calibri" pitchFamily="34" charset="0"/>
                <a:ea typeface="Calibri" pitchFamily="34" charset="-122"/>
                <a:cs typeface="Calibri" pitchFamily="34" charset="-120"/>
              </a:rPr>
              <a:t>ASP.NET Core Web API (C#)</a:t>
            </a:r>
            <a:endParaRPr lang="en-US" sz="1350" dirty="0"/>
          </a:p>
        </p:txBody>
      </p:sp>
      <p:sp>
        <p:nvSpPr>
          <p:cNvPr id="12" name="Shape 9"/>
          <p:cNvSpPr/>
          <p:nvPr/>
        </p:nvSpPr>
        <p:spPr>
          <a:xfrm>
            <a:off x="822960" y="4901184"/>
            <a:ext cx="91440" cy="91440"/>
          </a:xfrm>
          <a:prstGeom prst="ellipse">
            <a:avLst/>
          </a:prstGeom>
          <a:solidFill>
            <a:srgbClr val="02C39A"/>
          </a:solidFill>
          <a:ln/>
        </p:spPr>
        <p:txBody>
          <a:bodyPr/>
          <a:lstStyle/>
          <a:p>
            <a:endParaRPr lang="en-US"/>
          </a:p>
        </p:txBody>
      </p:sp>
      <p:sp>
        <p:nvSpPr>
          <p:cNvPr id="13" name="Text 10"/>
          <p:cNvSpPr/>
          <p:nvPr/>
        </p:nvSpPr>
        <p:spPr>
          <a:xfrm>
            <a:off x="1051560" y="4773168"/>
            <a:ext cx="6400800" cy="320040"/>
          </a:xfrm>
          <a:prstGeom prst="rect">
            <a:avLst/>
          </a:prstGeom>
          <a:noFill/>
          <a:ln/>
        </p:spPr>
        <p:txBody>
          <a:bodyPr wrap="square" lIns="0" tIns="0" rIns="0" bIns="0" rtlCol="0" anchor="ctr"/>
          <a:lstStyle/>
          <a:p>
            <a:pPr marL="0" indent="0">
              <a:buNone/>
            </a:pPr>
            <a:r>
              <a:rPr lang="en-US" sz="1350" dirty="0">
                <a:solidFill>
                  <a:srgbClr val="DCE7E9"/>
                </a:solidFill>
                <a:latin typeface="Calibri" pitchFamily="34" charset="0"/>
                <a:ea typeface="Calibri" pitchFamily="34" charset="-122"/>
                <a:cs typeface="Calibri" pitchFamily="34" charset="-120"/>
              </a:rPr>
              <a:t>Patrón Pub/Sub + Inyección de dependencias</a:t>
            </a:r>
            <a:endParaRPr lang="en-US" sz="1350" dirty="0"/>
          </a:p>
        </p:txBody>
      </p:sp>
      <p:sp>
        <p:nvSpPr>
          <p:cNvPr id="14" name="Text 11"/>
          <p:cNvSpPr/>
          <p:nvPr/>
        </p:nvSpPr>
        <p:spPr>
          <a:xfrm>
            <a:off x="777240" y="6263640"/>
            <a:ext cx="7315200" cy="274320"/>
          </a:xfrm>
          <a:prstGeom prst="rect">
            <a:avLst/>
          </a:prstGeom>
          <a:noFill/>
          <a:ln/>
        </p:spPr>
        <p:txBody>
          <a:bodyPr wrap="square" lIns="0" tIns="0" rIns="0" bIns="0" rtlCol="0" anchor="ctr"/>
          <a:lstStyle/>
          <a:p>
            <a:pPr marL="0" indent="0">
              <a:buNone/>
            </a:pPr>
            <a:r>
              <a:rPr lang="en-US" sz="1100" dirty="0">
                <a:solidFill>
                  <a:srgbClr val="6B8A93"/>
                </a:solidFill>
                <a:latin typeface="Calibri" pitchFamily="34" charset="0"/>
                <a:ea typeface="Calibri" pitchFamily="34" charset="-122"/>
                <a:cs typeface="Calibri" pitchFamily="34" charset="-120"/>
              </a:rPr>
              <a:t>Exposición de proyecto · Curso de Arquitectura de Software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02920" y="320040"/>
            <a:ext cx="7315200" cy="274320"/>
          </a:xfrm>
          <a:prstGeom prst="rect">
            <a:avLst/>
          </a:prstGeom>
          <a:noFill/>
          <a:ln/>
        </p:spPr>
        <p:txBody>
          <a:bodyPr wrap="square" lIns="0" tIns="0" rIns="0" bIns="0" rtlCol="0" anchor="ctr"/>
          <a:lstStyle/>
          <a:p>
            <a:pPr marL="0" indent="0" algn="l">
              <a:buNone/>
            </a:pPr>
            <a:r>
              <a:rPr lang="en-US" sz="1200" b="1" kern="0" spc="200" dirty="0">
                <a:solidFill>
                  <a:srgbClr val="0E7C7B"/>
                </a:solidFill>
                <a:latin typeface="Calibri" pitchFamily="34" charset="0"/>
                <a:ea typeface="Calibri" pitchFamily="34" charset="-122"/>
                <a:cs typeface="Calibri" pitchFamily="34" charset="-120"/>
              </a:rPr>
              <a:t>CONCEPTO</a:t>
            </a:r>
            <a:endParaRPr lang="en-US" sz="1200" dirty="0"/>
          </a:p>
        </p:txBody>
      </p:sp>
      <p:sp>
        <p:nvSpPr>
          <p:cNvPr id="3" name="Text 1"/>
          <p:cNvSpPr/>
          <p:nvPr/>
        </p:nvSpPr>
        <p:spPr>
          <a:xfrm>
            <a:off x="502920" y="566928"/>
            <a:ext cx="10607040" cy="594360"/>
          </a:xfrm>
          <a:prstGeom prst="rect">
            <a:avLst/>
          </a:prstGeom>
          <a:noFill/>
          <a:ln/>
        </p:spPr>
        <p:txBody>
          <a:bodyPr wrap="square" lIns="0" tIns="0" rIns="0" bIns="0" rtlCol="0" anchor="ctr"/>
          <a:lstStyle/>
          <a:p>
            <a:pPr marL="0" indent="0" algn="l">
              <a:buNone/>
            </a:pPr>
            <a:r>
              <a:rPr lang="en-US" sz="2800" b="1" dirty="0">
                <a:solidFill>
                  <a:srgbClr val="16252B"/>
                </a:solidFill>
                <a:latin typeface="Cambria" pitchFamily="34" charset="0"/>
                <a:ea typeface="Cambria" pitchFamily="34" charset="-122"/>
                <a:cs typeface="Cambria" pitchFamily="34" charset="-120"/>
              </a:rPr>
              <a:t>¿Qué es la arquitectura Microkernel?</a:t>
            </a:r>
            <a:endParaRPr lang="en-US" sz="2800" dirty="0"/>
          </a:p>
        </p:txBody>
      </p:sp>
      <p:sp>
        <p:nvSpPr>
          <p:cNvPr id="4" name="Text 2"/>
          <p:cNvSpPr/>
          <p:nvPr/>
        </p:nvSpPr>
        <p:spPr>
          <a:xfrm>
            <a:off x="10424160" y="6510528"/>
            <a:ext cx="1645920" cy="22860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Mundial Plugin · Microkernel</a:t>
            </a:r>
            <a:endParaRPr lang="en-US" sz="900" dirty="0"/>
          </a:p>
        </p:txBody>
      </p:sp>
      <p:sp>
        <p:nvSpPr>
          <p:cNvPr id="5" name="Text 3"/>
          <p:cNvSpPr/>
          <p:nvPr/>
        </p:nvSpPr>
        <p:spPr>
          <a:xfrm>
            <a:off x="502920" y="1417320"/>
            <a:ext cx="5577840" cy="1828800"/>
          </a:xfrm>
          <a:prstGeom prst="rect">
            <a:avLst/>
          </a:prstGeom>
          <a:noFill/>
          <a:ln/>
        </p:spPr>
        <p:txBody>
          <a:bodyPr wrap="square" lIns="0" tIns="0" rIns="0" bIns="0" rtlCol="0" anchor="ctr"/>
          <a:lstStyle/>
          <a:p>
            <a:pPr marL="0" indent="0" algn="l">
              <a:lnSpc>
                <a:spcPct val="125000"/>
              </a:lnSpc>
              <a:buNone/>
            </a:pPr>
            <a:r>
              <a:rPr lang="en-US" sz="1500" dirty="0">
                <a:solidFill>
                  <a:srgbClr val="16252B"/>
                </a:solidFill>
                <a:latin typeface="Calibri" pitchFamily="34" charset="0"/>
                <a:ea typeface="Calibri" pitchFamily="34" charset="-122"/>
                <a:cs typeface="Calibri" pitchFamily="34" charset="-120"/>
              </a:rPr>
              <a:t>Separa una funcionalidad mínima central (el núcleo) de las funcionalidades adicionales, implementadas como plugins independientes. El núcleo provee los servicios básicos y los puntos de extensión; los plugins añaden capacidades sin modificar el núcleo.</a:t>
            </a:r>
            <a:endParaRPr lang="en-US" sz="1500" dirty="0"/>
          </a:p>
        </p:txBody>
      </p:sp>
      <p:sp>
        <p:nvSpPr>
          <p:cNvPr id="6" name="Shape 4"/>
          <p:cNvSpPr/>
          <p:nvPr/>
        </p:nvSpPr>
        <p:spPr>
          <a:xfrm>
            <a:off x="502920" y="3429000"/>
            <a:ext cx="5577840" cy="777240"/>
          </a:xfrm>
          <a:prstGeom prst="roundRect">
            <a:avLst>
              <a:gd name="adj" fmla="val 9412"/>
            </a:avLst>
          </a:prstGeom>
          <a:solidFill>
            <a:srgbClr val="0B1F2A"/>
          </a:solidFill>
          <a:ln/>
          <a:effectLst>
            <a:outerShdw blurRad="101600" dist="25400" dir="5400000" algn="bl" rotWithShape="0">
              <a:srgbClr val="000000">
                <a:alpha val="12000"/>
              </a:srgbClr>
            </a:outerShdw>
          </a:effectLst>
        </p:spPr>
        <p:txBody>
          <a:bodyPr/>
          <a:lstStyle/>
          <a:p>
            <a:endParaRPr lang="en-US"/>
          </a:p>
        </p:txBody>
      </p:sp>
      <p:sp>
        <p:nvSpPr>
          <p:cNvPr id="7" name="Text 5"/>
          <p:cNvSpPr/>
          <p:nvPr/>
        </p:nvSpPr>
        <p:spPr>
          <a:xfrm>
            <a:off x="777240" y="3429000"/>
            <a:ext cx="5120640" cy="777240"/>
          </a:xfrm>
          <a:prstGeom prst="rect">
            <a:avLst/>
          </a:prstGeom>
          <a:noFill/>
          <a:ln/>
        </p:spPr>
        <p:txBody>
          <a:bodyPr wrap="square" lIns="0" tIns="0" rIns="0" bIns="0" rtlCol="0" anchor="ctr"/>
          <a:lstStyle/>
          <a:p>
            <a:pPr marL="0" indent="0">
              <a:buNone/>
            </a:pPr>
            <a:r>
              <a:rPr lang="en-US" sz="1450" b="1" dirty="0">
                <a:solidFill>
                  <a:srgbClr val="BFEFE0"/>
                </a:solidFill>
                <a:latin typeface="Calibri" pitchFamily="34" charset="0"/>
                <a:ea typeface="Calibri" pitchFamily="34" charset="-122"/>
                <a:cs typeface="Calibri" pitchFamily="34" charset="-120"/>
              </a:rPr>
              <a:t>Idea clave:  </a:t>
            </a:r>
            <a:r>
              <a:rPr lang="en-US" sz="1450" dirty="0">
                <a:solidFill>
                  <a:srgbClr val="FFFFFF"/>
                </a:solidFill>
                <a:latin typeface="Calibri" pitchFamily="34" charset="0"/>
                <a:ea typeface="Calibri" pitchFamily="34" charset="-122"/>
                <a:cs typeface="Calibri" pitchFamily="34" charset="-120"/>
              </a:rPr>
              <a:t>un núcleo estable + extensiones conectables.</a:t>
            </a:r>
            <a:endParaRPr lang="en-US" sz="1450" dirty="0"/>
          </a:p>
        </p:txBody>
      </p:sp>
      <p:sp>
        <p:nvSpPr>
          <p:cNvPr id="8" name="Shape 6"/>
          <p:cNvSpPr/>
          <p:nvPr/>
        </p:nvSpPr>
        <p:spPr>
          <a:xfrm>
            <a:off x="8183880" y="2651760"/>
            <a:ext cx="1737360" cy="1188720"/>
          </a:xfrm>
          <a:prstGeom prst="ellipse">
            <a:avLst/>
          </a:prstGeom>
          <a:solidFill>
            <a:srgbClr val="0E7C7B"/>
          </a:solidFill>
          <a:ln/>
          <a:effectLst>
            <a:outerShdw blurRad="101600" dist="25400" dir="5400000" algn="bl" rotWithShape="0">
              <a:srgbClr val="000000">
                <a:alpha val="12000"/>
              </a:srgbClr>
            </a:outerShdw>
          </a:effectLst>
        </p:spPr>
        <p:txBody>
          <a:bodyPr/>
          <a:lstStyle/>
          <a:p>
            <a:endParaRPr lang="en-US"/>
          </a:p>
        </p:txBody>
      </p:sp>
      <p:sp>
        <p:nvSpPr>
          <p:cNvPr id="9" name="Text 7"/>
          <p:cNvSpPr/>
          <p:nvPr/>
        </p:nvSpPr>
        <p:spPr>
          <a:xfrm>
            <a:off x="8183880" y="2651760"/>
            <a:ext cx="1737360" cy="11887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Núcleo</a:t>
            </a:r>
            <a:endParaRPr lang="en-US" sz="1300" dirty="0"/>
          </a:p>
        </p:txBody>
      </p:sp>
      <p:sp>
        <p:nvSpPr>
          <p:cNvPr id="10" name="Shape 8"/>
          <p:cNvSpPr/>
          <p:nvPr/>
        </p:nvSpPr>
        <p:spPr>
          <a:xfrm>
            <a:off x="7635240" y="2194560"/>
            <a:ext cx="1280160" cy="914400"/>
          </a:xfrm>
          <a:prstGeom prst="line">
            <a:avLst/>
          </a:prstGeom>
          <a:noFill/>
          <a:ln w="19050">
            <a:solidFill>
              <a:srgbClr val="C7D6D9"/>
            </a:solidFill>
            <a:prstDash val="solid"/>
          </a:ln>
        </p:spPr>
        <p:txBody>
          <a:bodyPr/>
          <a:lstStyle/>
          <a:p>
            <a:endParaRPr lang="en-US"/>
          </a:p>
        </p:txBody>
      </p:sp>
      <p:sp>
        <p:nvSpPr>
          <p:cNvPr id="11" name="Shape 9"/>
          <p:cNvSpPr/>
          <p:nvPr/>
        </p:nvSpPr>
        <p:spPr>
          <a:xfrm>
            <a:off x="9189720" y="2194560"/>
            <a:ext cx="1280160" cy="914400"/>
          </a:xfrm>
          <a:prstGeom prst="line">
            <a:avLst/>
          </a:prstGeom>
          <a:noFill/>
          <a:ln w="19050">
            <a:solidFill>
              <a:srgbClr val="C7D6D9"/>
            </a:solidFill>
            <a:prstDash val="solid"/>
          </a:ln>
        </p:spPr>
        <p:txBody>
          <a:bodyPr/>
          <a:lstStyle/>
          <a:p>
            <a:endParaRPr lang="en-US"/>
          </a:p>
        </p:txBody>
      </p:sp>
      <p:sp>
        <p:nvSpPr>
          <p:cNvPr id="12" name="Shape 10"/>
          <p:cNvSpPr/>
          <p:nvPr/>
        </p:nvSpPr>
        <p:spPr>
          <a:xfrm>
            <a:off x="7635240" y="3383280"/>
            <a:ext cx="1280160" cy="914400"/>
          </a:xfrm>
          <a:prstGeom prst="line">
            <a:avLst/>
          </a:prstGeom>
          <a:noFill/>
          <a:ln w="19050">
            <a:solidFill>
              <a:srgbClr val="C7D6D9"/>
            </a:solidFill>
            <a:prstDash val="solid"/>
          </a:ln>
        </p:spPr>
        <p:txBody>
          <a:bodyPr/>
          <a:lstStyle/>
          <a:p>
            <a:endParaRPr lang="en-US"/>
          </a:p>
        </p:txBody>
      </p:sp>
      <p:sp>
        <p:nvSpPr>
          <p:cNvPr id="13" name="Shape 11"/>
          <p:cNvSpPr/>
          <p:nvPr/>
        </p:nvSpPr>
        <p:spPr>
          <a:xfrm>
            <a:off x="9189720" y="3383280"/>
            <a:ext cx="1280160" cy="914400"/>
          </a:xfrm>
          <a:prstGeom prst="line">
            <a:avLst/>
          </a:prstGeom>
          <a:noFill/>
          <a:ln w="19050">
            <a:solidFill>
              <a:srgbClr val="C7D6D9"/>
            </a:solidFill>
            <a:prstDash val="solid"/>
          </a:ln>
        </p:spPr>
        <p:txBody>
          <a:bodyPr/>
          <a:lstStyle/>
          <a:p>
            <a:endParaRPr lang="en-US"/>
          </a:p>
        </p:txBody>
      </p:sp>
      <p:sp>
        <p:nvSpPr>
          <p:cNvPr id="14" name="Shape 12"/>
          <p:cNvSpPr/>
          <p:nvPr/>
        </p:nvSpPr>
        <p:spPr>
          <a:xfrm>
            <a:off x="6675120" y="1417320"/>
            <a:ext cx="1280160" cy="457200"/>
          </a:xfrm>
          <a:prstGeom prst="roundRect">
            <a:avLst>
              <a:gd name="adj" fmla="val 12000"/>
            </a:avLst>
          </a:prstGeom>
          <a:solidFill>
            <a:srgbClr val="FFFFFF"/>
          </a:solidFill>
          <a:ln w="15875">
            <a:solidFill>
              <a:srgbClr val="02C39A"/>
            </a:solidFill>
            <a:prstDash val="solid"/>
          </a:ln>
          <a:effectLst>
            <a:outerShdw blurRad="101600" dist="25400" dir="5400000" algn="bl" rotWithShape="0">
              <a:srgbClr val="000000">
                <a:alpha val="12000"/>
              </a:srgbClr>
            </a:outerShdw>
          </a:effectLst>
        </p:spPr>
        <p:txBody>
          <a:bodyPr/>
          <a:lstStyle/>
          <a:p>
            <a:endParaRPr lang="en-US"/>
          </a:p>
        </p:txBody>
      </p:sp>
      <p:sp>
        <p:nvSpPr>
          <p:cNvPr id="15" name="Text 13"/>
          <p:cNvSpPr/>
          <p:nvPr/>
        </p:nvSpPr>
        <p:spPr>
          <a:xfrm>
            <a:off x="6675120" y="1417320"/>
            <a:ext cx="1280160" cy="457200"/>
          </a:xfrm>
          <a:prstGeom prst="rect">
            <a:avLst/>
          </a:prstGeom>
          <a:noFill/>
          <a:ln/>
        </p:spPr>
        <p:txBody>
          <a:bodyPr wrap="square" lIns="0" tIns="0" rIns="0" bIns="0" rtlCol="0" anchor="ctr"/>
          <a:lstStyle/>
          <a:p>
            <a:pPr marL="0" indent="0" algn="ctr">
              <a:buNone/>
            </a:pPr>
            <a:r>
              <a:rPr lang="en-US" sz="1100" b="1" dirty="0">
                <a:solidFill>
                  <a:srgbClr val="16252B"/>
                </a:solidFill>
                <a:latin typeface="Calibri" pitchFamily="34" charset="0"/>
                <a:ea typeface="Calibri" pitchFamily="34" charset="-122"/>
                <a:cs typeface="Calibri" pitchFamily="34" charset="-120"/>
              </a:rPr>
              <a:t>Plugin</a:t>
            </a:r>
            <a:endParaRPr lang="en-US" sz="1100" dirty="0"/>
          </a:p>
        </p:txBody>
      </p:sp>
      <p:sp>
        <p:nvSpPr>
          <p:cNvPr id="16" name="Shape 14"/>
          <p:cNvSpPr/>
          <p:nvPr/>
        </p:nvSpPr>
        <p:spPr>
          <a:xfrm>
            <a:off x="9966960" y="1417320"/>
            <a:ext cx="1280160" cy="457200"/>
          </a:xfrm>
          <a:prstGeom prst="roundRect">
            <a:avLst>
              <a:gd name="adj" fmla="val 12000"/>
            </a:avLst>
          </a:prstGeom>
          <a:solidFill>
            <a:srgbClr val="FFFFFF"/>
          </a:solidFill>
          <a:ln w="15875">
            <a:solidFill>
              <a:srgbClr val="02C39A"/>
            </a:solidFill>
            <a:prstDash val="solid"/>
          </a:ln>
          <a:effectLst>
            <a:outerShdw blurRad="101600" dist="25400" dir="5400000" algn="bl" rotWithShape="0">
              <a:srgbClr val="000000">
                <a:alpha val="12000"/>
              </a:srgbClr>
            </a:outerShdw>
          </a:effectLst>
        </p:spPr>
        <p:txBody>
          <a:bodyPr/>
          <a:lstStyle/>
          <a:p>
            <a:endParaRPr lang="en-US"/>
          </a:p>
        </p:txBody>
      </p:sp>
      <p:sp>
        <p:nvSpPr>
          <p:cNvPr id="17" name="Text 15"/>
          <p:cNvSpPr/>
          <p:nvPr/>
        </p:nvSpPr>
        <p:spPr>
          <a:xfrm>
            <a:off x="9966960" y="1417320"/>
            <a:ext cx="1280160" cy="457200"/>
          </a:xfrm>
          <a:prstGeom prst="rect">
            <a:avLst/>
          </a:prstGeom>
          <a:noFill/>
          <a:ln/>
        </p:spPr>
        <p:txBody>
          <a:bodyPr wrap="square" lIns="0" tIns="0" rIns="0" bIns="0" rtlCol="0" anchor="ctr"/>
          <a:lstStyle/>
          <a:p>
            <a:pPr marL="0" indent="0" algn="ctr">
              <a:buNone/>
            </a:pPr>
            <a:r>
              <a:rPr lang="en-US" sz="1100" b="1" dirty="0">
                <a:solidFill>
                  <a:srgbClr val="16252B"/>
                </a:solidFill>
                <a:latin typeface="Calibri" pitchFamily="34" charset="0"/>
                <a:ea typeface="Calibri" pitchFamily="34" charset="-122"/>
                <a:cs typeface="Calibri" pitchFamily="34" charset="-120"/>
              </a:rPr>
              <a:t>Plugin</a:t>
            </a:r>
            <a:endParaRPr lang="en-US" sz="1100" dirty="0"/>
          </a:p>
        </p:txBody>
      </p:sp>
      <p:sp>
        <p:nvSpPr>
          <p:cNvPr id="18" name="Shape 16"/>
          <p:cNvSpPr/>
          <p:nvPr/>
        </p:nvSpPr>
        <p:spPr>
          <a:xfrm>
            <a:off x="6675120" y="4160520"/>
            <a:ext cx="1280160" cy="457200"/>
          </a:xfrm>
          <a:prstGeom prst="roundRect">
            <a:avLst>
              <a:gd name="adj" fmla="val 12000"/>
            </a:avLst>
          </a:prstGeom>
          <a:solidFill>
            <a:srgbClr val="FFFFFF"/>
          </a:solidFill>
          <a:ln w="15875">
            <a:solidFill>
              <a:srgbClr val="02C39A"/>
            </a:solidFill>
            <a:prstDash val="solid"/>
          </a:ln>
          <a:effectLst>
            <a:outerShdw blurRad="101600" dist="25400" dir="5400000" algn="bl" rotWithShape="0">
              <a:srgbClr val="000000">
                <a:alpha val="12000"/>
              </a:srgbClr>
            </a:outerShdw>
          </a:effectLst>
        </p:spPr>
        <p:txBody>
          <a:bodyPr/>
          <a:lstStyle/>
          <a:p>
            <a:endParaRPr lang="en-US"/>
          </a:p>
        </p:txBody>
      </p:sp>
      <p:sp>
        <p:nvSpPr>
          <p:cNvPr id="19" name="Text 17"/>
          <p:cNvSpPr/>
          <p:nvPr/>
        </p:nvSpPr>
        <p:spPr>
          <a:xfrm>
            <a:off x="6675120" y="4160520"/>
            <a:ext cx="1280160" cy="457200"/>
          </a:xfrm>
          <a:prstGeom prst="rect">
            <a:avLst/>
          </a:prstGeom>
          <a:noFill/>
          <a:ln/>
        </p:spPr>
        <p:txBody>
          <a:bodyPr wrap="square" lIns="0" tIns="0" rIns="0" bIns="0" rtlCol="0" anchor="ctr"/>
          <a:lstStyle/>
          <a:p>
            <a:pPr marL="0" indent="0" algn="ctr">
              <a:buNone/>
            </a:pPr>
            <a:r>
              <a:rPr lang="en-US" sz="1100" b="1" dirty="0">
                <a:solidFill>
                  <a:srgbClr val="16252B"/>
                </a:solidFill>
                <a:latin typeface="Calibri" pitchFamily="34" charset="0"/>
                <a:ea typeface="Calibri" pitchFamily="34" charset="-122"/>
                <a:cs typeface="Calibri" pitchFamily="34" charset="-120"/>
              </a:rPr>
              <a:t>Plugin</a:t>
            </a:r>
            <a:endParaRPr lang="en-US" sz="1100" dirty="0"/>
          </a:p>
        </p:txBody>
      </p:sp>
      <p:sp>
        <p:nvSpPr>
          <p:cNvPr id="20" name="Shape 18"/>
          <p:cNvSpPr/>
          <p:nvPr/>
        </p:nvSpPr>
        <p:spPr>
          <a:xfrm>
            <a:off x="9966960" y="4160520"/>
            <a:ext cx="1280160" cy="457200"/>
          </a:xfrm>
          <a:prstGeom prst="roundRect">
            <a:avLst>
              <a:gd name="adj" fmla="val 12000"/>
            </a:avLst>
          </a:prstGeom>
          <a:solidFill>
            <a:srgbClr val="FFFFFF"/>
          </a:solidFill>
          <a:ln w="15875">
            <a:solidFill>
              <a:srgbClr val="02C39A"/>
            </a:solidFill>
            <a:prstDash val="solid"/>
          </a:ln>
          <a:effectLst>
            <a:outerShdw blurRad="101600" dist="25400" dir="5400000" algn="bl" rotWithShape="0">
              <a:srgbClr val="000000">
                <a:alpha val="12000"/>
              </a:srgbClr>
            </a:outerShdw>
          </a:effectLst>
        </p:spPr>
        <p:txBody>
          <a:bodyPr/>
          <a:lstStyle/>
          <a:p>
            <a:endParaRPr lang="en-US"/>
          </a:p>
        </p:txBody>
      </p:sp>
      <p:sp>
        <p:nvSpPr>
          <p:cNvPr id="21" name="Text 19"/>
          <p:cNvSpPr/>
          <p:nvPr/>
        </p:nvSpPr>
        <p:spPr>
          <a:xfrm>
            <a:off x="9966960" y="4160520"/>
            <a:ext cx="1280160" cy="457200"/>
          </a:xfrm>
          <a:prstGeom prst="rect">
            <a:avLst/>
          </a:prstGeom>
          <a:noFill/>
          <a:ln/>
        </p:spPr>
        <p:txBody>
          <a:bodyPr wrap="square" lIns="0" tIns="0" rIns="0" bIns="0" rtlCol="0" anchor="ctr"/>
          <a:lstStyle/>
          <a:p>
            <a:pPr marL="0" indent="0" algn="ctr">
              <a:buNone/>
            </a:pPr>
            <a:r>
              <a:rPr lang="en-US" sz="1100" b="1" dirty="0">
                <a:solidFill>
                  <a:srgbClr val="16252B"/>
                </a:solidFill>
                <a:latin typeface="Calibri" pitchFamily="34" charset="0"/>
                <a:ea typeface="Calibri" pitchFamily="34" charset="-122"/>
                <a:cs typeface="Calibri" pitchFamily="34" charset="-120"/>
              </a:rPr>
              <a:t>Plugin</a:t>
            </a:r>
            <a:endParaRPr lang="en-US" sz="1100" dirty="0"/>
          </a:p>
        </p:txBody>
      </p:sp>
      <p:sp>
        <p:nvSpPr>
          <p:cNvPr id="22" name="Text 20"/>
          <p:cNvSpPr/>
          <p:nvPr/>
        </p:nvSpPr>
        <p:spPr>
          <a:xfrm>
            <a:off x="502920" y="6510528"/>
            <a:ext cx="8229600" cy="228600"/>
          </a:xfrm>
          <a:prstGeom prst="rect">
            <a:avLst/>
          </a:prstGeom>
          <a:noFill/>
          <a:ln/>
        </p:spPr>
        <p:txBody>
          <a:bodyPr wrap="square" lIns="0" tIns="0" rIns="0" bIns="0" rtlCol="0" anchor="ctr"/>
          <a:lstStyle/>
          <a:p>
            <a:pPr marL="0" indent="0" algn="l">
              <a:buNone/>
            </a:pPr>
            <a:r>
              <a:rPr lang="en-US" sz="950" i="1" dirty="0">
                <a:solidFill>
                  <a:srgbClr val="5B6B73"/>
                </a:solidFill>
                <a:latin typeface="Calibri" pitchFamily="34" charset="0"/>
                <a:ea typeface="Calibri" pitchFamily="34" charset="-122"/>
                <a:cs typeface="Calibri" pitchFamily="34" charset="-120"/>
              </a:rPr>
              <a:t>Hoy lo vamos a ver corriendo en código real, no solo en diagrama.</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02920" y="320040"/>
            <a:ext cx="7315200" cy="274320"/>
          </a:xfrm>
          <a:prstGeom prst="rect">
            <a:avLst/>
          </a:prstGeom>
          <a:noFill/>
          <a:ln/>
        </p:spPr>
        <p:txBody>
          <a:bodyPr wrap="square" lIns="0" tIns="0" rIns="0" bIns="0" rtlCol="0" anchor="ctr"/>
          <a:lstStyle/>
          <a:p>
            <a:pPr marL="0" indent="0" algn="l">
              <a:buNone/>
            </a:pPr>
            <a:r>
              <a:rPr lang="en-US" sz="1200" b="1" kern="0" spc="200" dirty="0">
                <a:solidFill>
                  <a:srgbClr val="0E7C7B"/>
                </a:solidFill>
                <a:latin typeface="Calibri" pitchFamily="34" charset="0"/>
                <a:ea typeface="Calibri" pitchFamily="34" charset="-122"/>
                <a:cs typeface="Calibri" pitchFamily="34" charset="-120"/>
              </a:rPr>
              <a:t>MAPEO TEORÍA → CÓDIGO</a:t>
            </a:r>
            <a:endParaRPr lang="en-US" sz="1200" dirty="0"/>
          </a:p>
        </p:txBody>
      </p:sp>
      <p:sp>
        <p:nvSpPr>
          <p:cNvPr id="3" name="Text 1"/>
          <p:cNvSpPr/>
          <p:nvPr/>
        </p:nvSpPr>
        <p:spPr>
          <a:xfrm>
            <a:off x="502920" y="566928"/>
            <a:ext cx="10607040" cy="594360"/>
          </a:xfrm>
          <a:prstGeom prst="rect">
            <a:avLst/>
          </a:prstGeom>
          <a:noFill/>
          <a:ln/>
        </p:spPr>
        <p:txBody>
          <a:bodyPr wrap="square" lIns="0" tIns="0" rIns="0" bIns="0" rtlCol="0" anchor="ctr"/>
          <a:lstStyle/>
          <a:p>
            <a:pPr marL="0" indent="0" algn="l">
              <a:buNone/>
            </a:pPr>
            <a:r>
              <a:rPr lang="en-US" sz="2800" b="1" dirty="0">
                <a:solidFill>
                  <a:srgbClr val="16252B"/>
                </a:solidFill>
                <a:latin typeface="Cambria" pitchFamily="34" charset="0"/>
                <a:ea typeface="Cambria" pitchFamily="34" charset="-122"/>
                <a:cs typeface="Cambria" pitchFamily="34" charset="-120"/>
              </a:rPr>
              <a:t>Un solo proyecto, separación por carpetas</a:t>
            </a:r>
            <a:endParaRPr lang="en-US" sz="2800" dirty="0"/>
          </a:p>
        </p:txBody>
      </p:sp>
      <p:sp>
        <p:nvSpPr>
          <p:cNvPr id="4" name="Text 2"/>
          <p:cNvSpPr/>
          <p:nvPr/>
        </p:nvSpPr>
        <p:spPr>
          <a:xfrm>
            <a:off x="10424160" y="6510528"/>
            <a:ext cx="1645920" cy="22860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Mundial Plugin · Microkernel</a:t>
            </a:r>
            <a:endParaRPr lang="en-US" sz="900" dirty="0"/>
          </a:p>
        </p:txBody>
      </p:sp>
      <p:sp>
        <p:nvSpPr>
          <p:cNvPr id="5" name="Text 3"/>
          <p:cNvSpPr/>
          <p:nvPr/>
        </p:nvSpPr>
        <p:spPr>
          <a:xfrm>
            <a:off x="502920" y="1325880"/>
            <a:ext cx="10607040" cy="502920"/>
          </a:xfrm>
          <a:prstGeom prst="rect">
            <a:avLst/>
          </a:prstGeom>
          <a:noFill/>
          <a:ln/>
        </p:spPr>
        <p:txBody>
          <a:bodyPr wrap="square" lIns="0" tIns="0" rIns="0" bIns="0" rtlCol="0" anchor="ctr"/>
          <a:lstStyle/>
          <a:p>
            <a:pPr marL="0" indent="0">
              <a:buNone/>
            </a:pPr>
            <a:r>
              <a:rPr lang="en-US" sz="1350" dirty="0">
                <a:solidFill>
                  <a:srgbClr val="5B6B73"/>
                </a:solidFill>
                <a:latin typeface="Calibri" pitchFamily="34" charset="0"/>
                <a:ea typeface="Calibri" pitchFamily="34" charset="-122"/>
                <a:cs typeface="Calibri" pitchFamily="34" charset="-120"/>
              </a:rPr>
              <a:t>La separación que importa no es física (varios .csproj), sino lógica: quién depende de quién. Cada carpeta tiene su propio namespace y una responsabilidad clara.</a:t>
            </a:r>
            <a:endParaRPr lang="en-US" sz="1350" dirty="0"/>
          </a:p>
        </p:txBody>
      </p:sp>
      <p:sp>
        <p:nvSpPr>
          <p:cNvPr id="6" name="Shape 4"/>
          <p:cNvSpPr/>
          <p:nvPr/>
        </p:nvSpPr>
        <p:spPr>
          <a:xfrm>
            <a:off x="502920" y="2057400"/>
            <a:ext cx="2606040" cy="2331720"/>
          </a:xfrm>
          <a:prstGeom prst="roundRect">
            <a:avLst>
              <a:gd name="adj" fmla="val 3137"/>
            </a:avLst>
          </a:prstGeom>
          <a:solidFill>
            <a:srgbClr val="FFFFFF"/>
          </a:solidFill>
          <a:ln/>
          <a:effectLst>
            <a:outerShdw blurRad="101600" dist="25400" dir="5400000" algn="bl" rotWithShape="0">
              <a:srgbClr val="000000">
                <a:alpha val="12000"/>
              </a:srgbClr>
            </a:outerShdw>
          </a:effectLst>
        </p:spPr>
        <p:txBody>
          <a:bodyPr/>
          <a:lstStyle/>
          <a:p>
            <a:endParaRPr lang="en-US"/>
          </a:p>
        </p:txBody>
      </p:sp>
      <p:pic>
        <p:nvPicPr>
          <p:cNvPr id="7" name="Image 0" descr="icon_server.png"/>
          <p:cNvPicPr>
            <a:picLocks noChangeAspect="1"/>
          </p:cNvPicPr>
          <p:nvPr/>
        </p:nvPicPr>
        <p:blipFill>
          <a:blip r:embed="rId3"/>
          <a:stretch>
            <a:fillRect/>
          </a:stretch>
        </p:blipFill>
        <p:spPr>
          <a:xfrm>
            <a:off x="704088" y="2240280"/>
            <a:ext cx="365760" cy="365760"/>
          </a:xfrm>
          <a:prstGeom prst="rect">
            <a:avLst/>
          </a:prstGeom>
        </p:spPr>
      </p:pic>
      <p:sp>
        <p:nvSpPr>
          <p:cNvPr id="8" name="Text 5"/>
          <p:cNvSpPr/>
          <p:nvPr/>
        </p:nvSpPr>
        <p:spPr>
          <a:xfrm>
            <a:off x="1188720" y="2203704"/>
            <a:ext cx="1691640" cy="365760"/>
          </a:xfrm>
          <a:prstGeom prst="rect">
            <a:avLst/>
          </a:prstGeom>
          <a:noFill/>
          <a:ln/>
        </p:spPr>
        <p:txBody>
          <a:bodyPr wrap="square" lIns="0" tIns="0" rIns="0" bIns="0" rtlCol="0" anchor="ctr"/>
          <a:lstStyle/>
          <a:p>
            <a:pPr marL="0" indent="0" algn="l">
              <a:buNone/>
            </a:pPr>
            <a:r>
              <a:rPr lang="en-US" sz="1400" b="1" dirty="0">
                <a:solidFill>
                  <a:srgbClr val="16252B"/>
                </a:solidFill>
                <a:latin typeface="Calibri" pitchFamily="34" charset="0"/>
                <a:ea typeface="Calibri" pitchFamily="34" charset="-122"/>
                <a:cs typeface="Calibri" pitchFamily="34" charset="-120"/>
              </a:rPr>
              <a:t>Core/</a:t>
            </a:r>
            <a:endParaRPr lang="en-US" sz="1400" dirty="0"/>
          </a:p>
        </p:txBody>
      </p:sp>
      <p:sp>
        <p:nvSpPr>
          <p:cNvPr id="9" name="Text 6"/>
          <p:cNvSpPr/>
          <p:nvPr/>
        </p:nvSpPr>
        <p:spPr>
          <a:xfrm>
            <a:off x="731520" y="2624328"/>
            <a:ext cx="2148840" cy="1618488"/>
          </a:xfrm>
          <a:prstGeom prst="rect">
            <a:avLst/>
          </a:prstGeom>
          <a:noFill/>
          <a:ln/>
        </p:spPr>
        <p:txBody>
          <a:bodyPr wrap="square" lIns="0" tIns="0" rIns="0" bIns="0" rtlCol="0" anchor="t"/>
          <a:lstStyle/>
          <a:p>
            <a:pPr marL="0" indent="0" algn="l">
              <a:lnSpc>
                <a:spcPct val="112000"/>
              </a:lnSpc>
              <a:buNone/>
            </a:pPr>
            <a:r>
              <a:rPr lang="en-US" sz="1150" dirty="0">
                <a:solidFill>
                  <a:srgbClr val="5B6B73"/>
                </a:solidFill>
                <a:latin typeface="Calibri" pitchFamily="34" charset="0"/>
                <a:ea typeface="Calibri" pitchFamily="34" charset="-122"/>
                <a:cs typeface="Calibri" pitchFamily="34" charset="-120"/>
              </a:rPr>
              <a:t>El núcleo. IPlugin, IAppContext, PluginManager. Nunca conoce el dominio (fútbol).</a:t>
            </a:r>
            <a:endParaRPr lang="en-US" sz="1150" dirty="0"/>
          </a:p>
        </p:txBody>
      </p:sp>
      <p:sp>
        <p:nvSpPr>
          <p:cNvPr id="10" name="Shape 7"/>
          <p:cNvSpPr/>
          <p:nvPr/>
        </p:nvSpPr>
        <p:spPr>
          <a:xfrm>
            <a:off x="3291840" y="2057400"/>
            <a:ext cx="2606040" cy="2331720"/>
          </a:xfrm>
          <a:prstGeom prst="roundRect">
            <a:avLst>
              <a:gd name="adj" fmla="val 3137"/>
            </a:avLst>
          </a:prstGeom>
          <a:solidFill>
            <a:srgbClr val="FFFFFF"/>
          </a:solidFill>
          <a:ln/>
          <a:effectLst>
            <a:outerShdw blurRad="101600" dist="25400" dir="5400000" algn="bl" rotWithShape="0">
              <a:srgbClr val="000000">
                <a:alpha val="12000"/>
              </a:srgbClr>
            </a:outerShdw>
          </a:effectLst>
        </p:spPr>
        <p:txBody>
          <a:bodyPr/>
          <a:lstStyle/>
          <a:p>
            <a:endParaRPr lang="en-US"/>
          </a:p>
        </p:txBody>
      </p:sp>
      <p:pic>
        <p:nvPicPr>
          <p:cNvPr id="11" name="Image 1" descr="icon_puzzle.png"/>
          <p:cNvPicPr>
            <a:picLocks noChangeAspect="1"/>
          </p:cNvPicPr>
          <p:nvPr/>
        </p:nvPicPr>
        <p:blipFill>
          <a:blip r:embed="rId4"/>
          <a:stretch>
            <a:fillRect/>
          </a:stretch>
        </p:blipFill>
        <p:spPr>
          <a:xfrm>
            <a:off x="3493008" y="2240280"/>
            <a:ext cx="365760" cy="365760"/>
          </a:xfrm>
          <a:prstGeom prst="rect">
            <a:avLst/>
          </a:prstGeom>
        </p:spPr>
      </p:pic>
      <p:sp>
        <p:nvSpPr>
          <p:cNvPr id="12" name="Text 8"/>
          <p:cNvSpPr/>
          <p:nvPr/>
        </p:nvSpPr>
        <p:spPr>
          <a:xfrm>
            <a:off x="3977640" y="2203704"/>
            <a:ext cx="1691640" cy="365760"/>
          </a:xfrm>
          <a:prstGeom prst="rect">
            <a:avLst/>
          </a:prstGeom>
          <a:noFill/>
          <a:ln/>
        </p:spPr>
        <p:txBody>
          <a:bodyPr wrap="square" lIns="0" tIns="0" rIns="0" bIns="0" rtlCol="0" anchor="ctr"/>
          <a:lstStyle/>
          <a:p>
            <a:pPr marL="0" indent="0" algn="l">
              <a:buNone/>
            </a:pPr>
            <a:r>
              <a:rPr lang="en-US" sz="1400" b="1" dirty="0">
                <a:solidFill>
                  <a:srgbClr val="16252B"/>
                </a:solidFill>
                <a:latin typeface="Calibri" pitchFamily="34" charset="0"/>
                <a:ea typeface="Calibri" pitchFamily="34" charset="-122"/>
                <a:cs typeface="Calibri" pitchFamily="34" charset="-120"/>
              </a:rPr>
              <a:t>Plugins/</a:t>
            </a:r>
            <a:endParaRPr lang="en-US" sz="1400" dirty="0"/>
          </a:p>
        </p:txBody>
      </p:sp>
      <p:sp>
        <p:nvSpPr>
          <p:cNvPr id="13" name="Text 9"/>
          <p:cNvSpPr/>
          <p:nvPr/>
        </p:nvSpPr>
        <p:spPr>
          <a:xfrm>
            <a:off x="3520440" y="2624328"/>
            <a:ext cx="2148840" cy="1618488"/>
          </a:xfrm>
          <a:prstGeom prst="rect">
            <a:avLst/>
          </a:prstGeom>
          <a:noFill/>
          <a:ln/>
        </p:spPr>
        <p:txBody>
          <a:bodyPr wrap="square" lIns="0" tIns="0" rIns="0" bIns="0" rtlCol="0" anchor="t"/>
          <a:lstStyle/>
          <a:p>
            <a:pPr marL="0" indent="0" algn="l">
              <a:lnSpc>
                <a:spcPct val="112000"/>
              </a:lnSpc>
              <a:buNone/>
            </a:pPr>
            <a:r>
              <a:rPr lang="en-US" sz="1150" dirty="0">
                <a:solidFill>
                  <a:srgbClr val="5B6B73"/>
                </a:solidFill>
                <a:latin typeface="Calibri" pitchFamily="34" charset="0"/>
                <a:ea typeface="Calibri" pitchFamily="34" charset="-122"/>
                <a:cs typeface="Calibri" pitchFamily="34" charset="-120"/>
              </a:rPr>
              <a:t>Funcionalidades intercambiables: MatchScore, Ranking, Prediction. Implementan IPlugin.</a:t>
            </a:r>
            <a:endParaRPr lang="en-US" sz="1150" dirty="0"/>
          </a:p>
        </p:txBody>
      </p:sp>
      <p:sp>
        <p:nvSpPr>
          <p:cNvPr id="14" name="Shape 10"/>
          <p:cNvSpPr/>
          <p:nvPr/>
        </p:nvSpPr>
        <p:spPr>
          <a:xfrm>
            <a:off x="6080760" y="2057400"/>
            <a:ext cx="2606040" cy="2331720"/>
          </a:xfrm>
          <a:prstGeom prst="roundRect">
            <a:avLst>
              <a:gd name="adj" fmla="val 3137"/>
            </a:avLst>
          </a:prstGeom>
          <a:solidFill>
            <a:srgbClr val="FFFFFF"/>
          </a:solidFill>
          <a:ln/>
          <a:effectLst>
            <a:outerShdw blurRad="101600" dist="25400" dir="5400000" algn="bl" rotWithShape="0">
              <a:srgbClr val="000000">
                <a:alpha val="12000"/>
              </a:srgbClr>
            </a:outerShdw>
          </a:effectLst>
        </p:spPr>
        <p:txBody>
          <a:bodyPr/>
          <a:lstStyle/>
          <a:p>
            <a:endParaRPr lang="en-US"/>
          </a:p>
        </p:txBody>
      </p:sp>
      <p:pic>
        <p:nvPicPr>
          <p:cNvPr id="15" name="Image 2" descr="icon_exchange_dark.png"/>
          <p:cNvPicPr>
            <a:picLocks noChangeAspect="1"/>
          </p:cNvPicPr>
          <p:nvPr/>
        </p:nvPicPr>
        <p:blipFill>
          <a:blip r:embed="rId5"/>
          <a:stretch>
            <a:fillRect/>
          </a:stretch>
        </p:blipFill>
        <p:spPr>
          <a:xfrm>
            <a:off x="6281928" y="2240280"/>
            <a:ext cx="365760" cy="365760"/>
          </a:xfrm>
          <a:prstGeom prst="rect">
            <a:avLst/>
          </a:prstGeom>
        </p:spPr>
      </p:pic>
      <p:sp>
        <p:nvSpPr>
          <p:cNvPr id="16" name="Text 11"/>
          <p:cNvSpPr/>
          <p:nvPr/>
        </p:nvSpPr>
        <p:spPr>
          <a:xfrm>
            <a:off x="6766560" y="2203704"/>
            <a:ext cx="1691640" cy="365760"/>
          </a:xfrm>
          <a:prstGeom prst="rect">
            <a:avLst/>
          </a:prstGeom>
          <a:noFill/>
          <a:ln/>
        </p:spPr>
        <p:txBody>
          <a:bodyPr wrap="square" lIns="0" tIns="0" rIns="0" bIns="0" rtlCol="0" anchor="ctr"/>
          <a:lstStyle/>
          <a:p>
            <a:pPr marL="0" indent="0" algn="l">
              <a:buNone/>
            </a:pPr>
            <a:r>
              <a:rPr lang="en-US" sz="1400" b="1" dirty="0">
                <a:solidFill>
                  <a:srgbClr val="16252B"/>
                </a:solidFill>
                <a:latin typeface="Calibri" pitchFamily="34" charset="0"/>
                <a:ea typeface="Calibri" pitchFamily="34" charset="-122"/>
                <a:cs typeface="Calibri" pitchFamily="34" charset="-120"/>
              </a:rPr>
              <a:t>Controllers/</a:t>
            </a:r>
            <a:endParaRPr lang="en-US" sz="1400" dirty="0"/>
          </a:p>
        </p:txBody>
      </p:sp>
      <p:sp>
        <p:nvSpPr>
          <p:cNvPr id="17" name="Text 12"/>
          <p:cNvSpPr/>
          <p:nvPr/>
        </p:nvSpPr>
        <p:spPr>
          <a:xfrm>
            <a:off x="6309360" y="2624328"/>
            <a:ext cx="2148840" cy="1618488"/>
          </a:xfrm>
          <a:prstGeom prst="rect">
            <a:avLst/>
          </a:prstGeom>
          <a:noFill/>
          <a:ln/>
        </p:spPr>
        <p:txBody>
          <a:bodyPr wrap="square" lIns="0" tIns="0" rIns="0" bIns="0" rtlCol="0" anchor="t"/>
          <a:lstStyle/>
          <a:p>
            <a:pPr marL="0" indent="0" algn="l">
              <a:lnSpc>
                <a:spcPct val="112000"/>
              </a:lnSpc>
              <a:buNone/>
            </a:pPr>
            <a:r>
              <a:rPr lang="en-US" sz="1150" dirty="0">
                <a:solidFill>
                  <a:srgbClr val="5B6B73"/>
                </a:solidFill>
                <a:latin typeface="Calibri" pitchFamily="34" charset="0"/>
                <a:ea typeface="Calibri" pitchFamily="34" charset="-122"/>
                <a:cs typeface="Calibri" pitchFamily="34" charset="-120"/>
              </a:rPr>
              <a:t>Puente HTTP. Traduce una URL en una llamada genérica al PluginManager.</a:t>
            </a:r>
            <a:endParaRPr lang="en-US" sz="1150" dirty="0"/>
          </a:p>
        </p:txBody>
      </p:sp>
      <p:sp>
        <p:nvSpPr>
          <p:cNvPr id="18" name="Shape 13"/>
          <p:cNvSpPr/>
          <p:nvPr/>
        </p:nvSpPr>
        <p:spPr>
          <a:xfrm>
            <a:off x="8869680" y="2057400"/>
            <a:ext cx="2606040" cy="2331720"/>
          </a:xfrm>
          <a:prstGeom prst="roundRect">
            <a:avLst>
              <a:gd name="adj" fmla="val 3137"/>
            </a:avLst>
          </a:prstGeom>
          <a:solidFill>
            <a:srgbClr val="FFFFFF"/>
          </a:solidFill>
          <a:ln/>
          <a:effectLst>
            <a:outerShdw blurRad="101600" dist="25400" dir="5400000" algn="bl" rotWithShape="0">
              <a:srgbClr val="000000">
                <a:alpha val="12000"/>
              </a:srgbClr>
            </a:outerShdw>
          </a:effectLst>
        </p:spPr>
        <p:txBody>
          <a:bodyPr/>
          <a:lstStyle/>
          <a:p>
            <a:endParaRPr lang="en-US"/>
          </a:p>
        </p:txBody>
      </p:sp>
      <p:pic>
        <p:nvPicPr>
          <p:cNvPr id="19" name="Image 3" descr="icon_play_navy.png"/>
          <p:cNvPicPr>
            <a:picLocks noChangeAspect="1"/>
          </p:cNvPicPr>
          <p:nvPr/>
        </p:nvPicPr>
        <p:blipFill>
          <a:blip r:embed="rId6"/>
          <a:stretch>
            <a:fillRect/>
          </a:stretch>
        </p:blipFill>
        <p:spPr>
          <a:xfrm>
            <a:off x="9070848" y="2240280"/>
            <a:ext cx="365760" cy="365760"/>
          </a:xfrm>
          <a:prstGeom prst="rect">
            <a:avLst/>
          </a:prstGeom>
        </p:spPr>
      </p:pic>
      <p:sp>
        <p:nvSpPr>
          <p:cNvPr id="20" name="Text 14"/>
          <p:cNvSpPr/>
          <p:nvPr/>
        </p:nvSpPr>
        <p:spPr>
          <a:xfrm>
            <a:off x="9555480" y="2203704"/>
            <a:ext cx="1691640" cy="365760"/>
          </a:xfrm>
          <a:prstGeom prst="rect">
            <a:avLst/>
          </a:prstGeom>
          <a:noFill/>
          <a:ln/>
        </p:spPr>
        <p:txBody>
          <a:bodyPr wrap="square" lIns="0" tIns="0" rIns="0" bIns="0" rtlCol="0" anchor="ctr"/>
          <a:lstStyle/>
          <a:p>
            <a:pPr marL="0" indent="0" algn="l">
              <a:buNone/>
            </a:pPr>
            <a:r>
              <a:rPr lang="en-US" sz="1400" b="1" dirty="0">
                <a:solidFill>
                  <a:srgbClr val="16252B"/>
                </a:solidFill>
                <a:latin typeface="Calibri" pitchFamily="34" charset="0"/>
                <a:ea typeface="Calibri" pitchFamily="34" charset="-122"/>
                <a:cs typeface="Calibri" pitchFamily="34" charset="-120"/>
              </a:rPr>
              <a:t>Program.cs</a:t>
            </a:r>
            <a:endParaRPr lang="en-US" sz="1400" dirty="0"/>
          </a:p>
        </p:txBody>
      </p:sp>
      <p:sp>
        <p:nvSpPr>
          <p:cNvPr id="21" name="Text 15"/>
          <p:cNvSpPr/>
          <p:nvPr/>
        </p:nvSpPr>
        <p:spPr>
          <a:xfrm>
            <a:off x="9098280" y="2624328"/>
            <a:ext cx="2148840" cy="1618488"/>
          </a:xfrm>
          <a:prstGeom prst="rect">
            <a:avLst/>
          </a:prstGeom>
          <a:noFill/>
          <a:ln/>
        </p:spPr>
        <p:txBody>
          <a:bodyPr wrap="square" lIns="0" tIns="0" rIns="0" bIns="0" rtlCol="0" anchor="t"/>
          <a:lstStyle/>
          <a:p>
            <a:pPr marL="0" indent="0" algn="l">
              <a:lnSpc>
                <a:spcPct val="112000"/>
              </a:lnSpc>
              <a:buNone/>
            </a:pPr>
            <a:r>
              <a:rPr lang="en-US" sz="1150" dirty="0">
                <a:solidFill>
                  <a:srgbClr val="5B6B73"/>
                </a:solidFill>
                <a:latin typeface="Calibri" pitchFamily="34" charset="0"/>
                <a:ea typeface="Calibri" pitchFamily="34" charset="-122"/>
                <a:cs typeface="Calibri" pitchFamily="34" charset="-120"/>
              </a:rPr>
              <a:t>Ensambla el sistema al arrancar: crea el kernel y registra los plugins disponibles.</a:t>
            </a:r>
            <a:endParaRPr lang="en-US" sz="1150" dirty="0"/>
          </a:p>
        </p:txBody>
      </p:sp>
      <p:sp>
        <p:nvSpPr>
          <p:cNvPr id="22" name="Text 16"/>
          <p:cNvSpPr/>
          <p:nvPr/>
        </p:nvSpPr>
        <p:spPr>
          <a:xfrm>
            <a:off x="502920" y="4709160"/>
            <a:ext cx="10515600" cy="365760"/>
          </a:xfrm>
          <a:prstGeom prst="rect">
            <a:avLst/>
          </a:prstGeom>
          <a:noFill/>
          <a:ln/>
        </p:spPr>
        <p:txBody>
          <a:bodyPr wrap="square" lIns="0" tIns="0" rIns="0" bIns="0" rtlCol="0" anchor="ctr"/>
          <a:lstStyle/>
          <a:p>
            <a:pPr marL="0" indent="0">
              <a:buNone/>
            </a:pPr>
            <a:r>
              <a:rPr lang="en-US" sz="1200" b="1" dirty="0">
                <a:solidFill>
                  <a:srgbClr val="16252B"/>
                </a:solidFill>
                <a:latin typeface="Calibri" pitchFamily="34" charset="0"/>
                <a:ea typeface="Calibri" pitchFamily="34" charset="-122"/>
                <a:cs typeface="Calibri" pitchFamily="34" charset="-120"/>
              </a:rPr>
              <a:t>API.Service.MicroKernel </a:t>
            </a:r>
            <a:r>
              <a:rPr lang="en-US" sz="1200" dirty="0">
                <a:solidFill>
                  <a:srgbClr val="5B6B73"/>
                </a:solidFill>
                <a:latin typeface="Calibri" pitchFamily="34" charset="0"/>
                <a:ea typeface="Calibri" pitchFamily="34" charset="-122"/>
                <a:cs typeface="Calibri" pitchFamily="34" charset="-120"/>
              </a:rPr>
              <a:t>→  namespaces:  </a:t>
            </a:r>
            <a:r>
              <a:rPr lang="en-US" sz="1200" b="1" dirty="0">
                <a:solidFill>
                  <a:srgbClr val="0E7C7B"/>
                </a:solidFill>
                <a:latin typeface="Courier New" pitchFamily="34" charset="0"/>
                <a:ea typeface="Courier New" pitchFamily="34" charset="-122"/>
                <a:cs typeface="Courier New" pitchFamily="34" charset="-120"/>
              </a:rPr>
              <a:t>...Core   ...Plugins   ...Controllers</a:t>
            </a:r>
            <a:endParaRPr lang="en-US" sz="1200" dirty="0"/>
          </a:p>
        </p:txBody>
      </p:sp>
      <p:sp>
        <p:nvSpPr>
          <p:cNvPr id="23" name="Text 17"/>
          <p:cNvSpPr/>
          <p:nvPr/>
        </p:nvSpPr>
        <p:spPr>
          <a:xfrm>
            <a:off x="502920" y="6510528"/>
            <a:ext cx="8229600" cy="228600"/>
          </a:xfrm>
          <a:prstGeom prst="rect">
            <a:avLst/>
          </a:prstGeom>
          <a:noFill/>
          <a:ln/>
        </p:spPr>
        <p:txBody>
          <a:bodyPr wrap="square" lIns="0" tIns="0" rIns="0" bIns="0" rtlCol="0" anchor="ctr"/>
          <a:lstStyle/>
          <a:p>
            <a:pPr marL="0" indent="0" algn="l">
              <a:buNone/>
            </a:pPr>
            <a:r>
              <a:rPr lang="en-US" sz="950" i="1" dirty="0">
                <a:solidFill>
                  <a:srgbClr val="5B6B73"/>
                </a:solidFill>
                <a:latin typeface="Calibri" pitchFamily="34" charset="0"/>
                <a:ea typeface="Calibri" pitchFamily="34" charset="-122"/>
                <a:cs typeface="Calibri" pitchFamily="34" charset="-120"/>
              </a:rPr>
              <a:t>Los plugins dependen del núcleo (implementan IPlugin); el núcleo nunca depende de los plugins.</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02920" y="320040"/>
            <a:ext cx="7315200" cy="274320"/>
          </a:xfrm>
          <a:prstGeom prst="rect">
            <a:avLst/>
          </a:prstGeom>
          <a:noFill/>
          <a:ln/>
        </p:spPr>
        <p:txBody>
          <a:bodyPr wrap="square" lIns="0" tIns="0" rIns="0" bIns="0" rtlCol="0" anchor="ctr"/>
          <a:lstStyle/>
          <a:p>
            <a:pPr marL="0" indent="0" algn="l">
              <a:buNone/>
            </a:pPr>
            <a:r>
              <a:rPr lang="en-US" sz="1200" b="1" kern="0" spc="200" dirty="0">
                <a:solidFill>
                  <a:srgbClr val="0E7C7B"/>
                </a:solidFill>
                <a:latin typeface="Calibri" pitchFamily="34" charset="0"/>
                <a:ea typeface="Calibri" pitchFamily="34" charset="-122"/>
                <a:cs typeface="Calibri" pitchFamily="34" charset="-120"/>
              </a:rPr>
              <a:t>PASO 1 · EL CONTRATO</a:t>
            </a:r>
            <a:endParaRPr lang="en-US" sz="1200" dirty="0"/>
          </a:p>
        </p:txBody>
      </p:sp>
      <p:sp>
        <p:nvSpPr>
          <p:cNvPr id="3" name="Text 1"/>
          <p:cNvSpPr/>
          <p:nvPr/>
        </p:nvSpPr>
        <p:spPr>
          <a:xfrm>
            <a:off x="502920" y="566928"/>
            <a:ext cx="10607040" cy="594360"/>
          </a:xfrm>
          <a:prstGeom prst="rect">
            <a:avLst/>
          </a:prstGeom>
          <a:noFill/>
          <a:ln/>
        </p:spPr>
        <p:txBody>
          <a:bodyPr wrap="square" lIns="0" tIns="0" rIns="0" bIns="0" rtlCol="0" anchor="ctr"/>
          <a:lstStyle/>
          <a:p>
            <a:pPr marL="0" indent="0" algn="l">
              <a:buNone/>
            </a:pPr>
            <a:r>
              <a:rPr lang="en-US" sz="2800" b="1" dirty="0">
                <a:solidFill>
                  <a:srgbClr val="16252B"/>
                </a:solidFill>
                <a:latin typeface="Cambria" pitchFamily="34" charset="0"/>
                <a:ea typeface="Cambria" pitchFamily="34" charset="-122"/>
                <a:cs typeface="Cambria" pitchFamily="34" charset="-120"/>
              </a:rPr>
              <a:t>IPlugin — el punto de extensión</a:t>
            </a:r>
            <a:endParaRPr lang="en-US" sz="2800" dirty="0"/>
          </a:p>
        </p:txBody>
      </p:sp>
      <p:sp>
        <p:nvSpPr>
          <p:cNvPr id="4" name="Text 2"/>
          <p:cNvSpPr/>
          <p:nvPr/>
        </p:nvSpPr>
        <p:spPr>
          <a:xfrm>
            <a:off x="10424160" y="6510528"/>
            <a:ext cx="1645920" cy="22860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Mundial Plugin · Microkernel</a:t>
            </a:r>
            <a:endParaRPr lang="en-US" sz="900" dirty="0"/>
          </a:p>
        </p:txBody>
      </p:sp>
      <p:sp>
        <p:nvSpPr>
          <p:cNvPr id="11" name="Shape 9"/>
          <p:cNvSpPr/>
          <p:nvPr/>
        </p:nvSpPr>
        <p:spPr>
          <a:xfrm>
            <a:off x="7178040" y="1417320"/>
            <a:ext cx="4480560" cy="2834640"/>
          </a:xfrm>
          <a:prstGeom prst="roundRect">
            <a:avLst>
              <a:gd name="adj" fmla="val 2581"/>
            </a:avLst>
          </a:prstGeom>
          <a:solidFill>
            <a:srgbClr val="FFFFFF"/>
          </a:solidFill>
          <a:ln/>
          <a:effectLst>
            <a:outerShdw blurRad="101600" dist="25400" dir="5400000" algn="bl" rotWithShape="0">
              <a:srgbClr val="000000">
                <a:alpha val="12000"/>
              </a:srgbClr>
            </a:outerShdw>
          </a:effectLst>
        </p:spPr>
        <p:txBody>
          <a:bodyPr/>
          <a:lstStyle/>
          <a:p>
            <a:endParaRPr lang="en-US"/>
          </a:p>
        </p:txBody>
      </p:sp>
      <p:pic>
        <p:nvPicPr>
          <p:cNvPr id="12" name="Image 0" descr="icon_link.png"/>
          <p:cNvPicPr>
            <a:picLocks noChangeAspect="1"/>
          </p:cNvPicPr>
          <p:nvPr/>
        </p:nvPicPr>
        <p:blipFill>
          <a:blip r:embed="rId3"/>
          <a:stretch>
            <a:fillRect/>
          </a:stretch>
        </p:blipFill>
        <p:spPr>
          <a:xfrm>
            <a:off x="7379208" y="1600200"/>
            <a:ext cx="365760" cy="365760"/>
          </a:xfrm>
          <a:prstGeom prst="rect">
            <a:avLst/>
          </a:prstGeom>
        </p:spPr>
      </p:pic>
      <p:sp>
        <p:nvSpPr>
          <p:cNvPr id="13" name="Text 10"/>
          <p:cNvSpPr/>
          <p:nvPr/>
        </p:nvSpPr>
        <p:spPr>
          <a:xfrm>
            <a:off x="7863840" y="1563624"/>
            <a:ext cx="3566160" cy="365760"/>
          </a:xfrm>
          <a:prstGeom prst="rect">
            <a:avLst/>
          </a:prstGeom>
          <a:noFill/>
          <a:ln/>
        </p:spPr>
        <p:txBody>
          <a:bodyPr wrap="square" lIns="0" tIns="0" rIns="0" bIns="0" rtlCol="0" anchor="ctr"/>
          <a:lstStyle/>
          <a:p>
            <a:pPr marL="0" indent="0" algn="l">
              <a:buNone/>
            </a:pPr>
            <a:r>
              <a:rPr lang="en-US" sz="1400" b="1" dirty="0">
                <a:solidFill>
                  <a:srgbClr val="16252B"/>
                </a:solidFill>
                <a:latin typeface="Calibri" pitchFamily="34" charset="0"/>
                <a:ea typeface="Calibri" pitchFamily="34" charset="-122"/>
                <a:cs typeface="Calibri" pitchFamily="34" charset="-120"/>
              </a:rPr>
              <a:t>Como un enchufe estándar</a:t>
            </a:r>
            <a:endParaRPr lang="en-US" sz="1400" dirty="0"/>
          </a:p>
        </p:txBody>
      </p:sp>
      <p:sp>
        <p:nvSpPr>
          <p:cNvPr id="14" name="Text 11"/>
          <p:cNvSpPr/>
          <p:nvPr/>
        </p:nvSpPr>
        <p:spPr>
          <a:xfrm>
            <a:off x="7406640" y="1984248"/>
            <a:ext cx="4023360" cy="2121408"/>
          </a:xfrm>
          <a:prstGeom prst="rect">
            <a:avLst/>
          </a:prstGeom>
          <a:noFill/>
          <a:ln/>
        </p:spPr>
        <p:txBody>
          <a:bodyPr wrap="square" lIns="0" tIns="0" rIns="0" bIns="0" rtlCol="0" anchor="t"/>
          <a:lstStyle/>
          <a:p>
            <a:pPr marL="0" indent="0" algn="l">
              <a:lnSpc>
                <a:spcPct val="112000"/>
              </a:lnSpc>
              <a:buNone/>
            </a:pPr>
            <a:r>
              <a:rPr lang="en-US" sz="1250" dirty="0">
                <a:solidFill>
                  <a:srgbClr val="5B6B73"/>
                </a:solidFill>
                <a:latin typeface="Calibri" pitchFamily="34" charset="0"/>
                <a:ea typeface="Calibri" pitchFamily="34" charset="-122"/>
                <a:cs typeface="Calibri" pitchFamily="34" charset="-120"/>
              </a:rPr>
              <a:t>Cualquier funcionalidad nueva debe cumplir este contrato para conectarse al núcleo.</a:t>
            </a:r>
            <a:endParaRPr lang="en-US" sz="1250" dirty="0"/>
          </a:p>
          <a:p>
            <a:pPr marL="0" indent="0" algn="l">
              <a:lnSpc>
                <a:spcPct val="112000"/>
              </a:lnSpc>
              <a:buNone/>
            </a:pPr>
            <a:endParaRPr lang="en-US" sz="1250" dirty="0"/>
          </a:p>
          <a:p>
            <a:pPr marL="0" indent="0" algn="l">
              <a:lnSpc>
                <a:spcPct val="112000"/>
              </a:lnSpc>
              <a:buNone/>
            </a:pPr>
            <a:r>
              <a:rPr lang="en-US" sz="1250" dirty="0">
                <a:solidFill>
                  <a:srgbClr val="5B6B73"/>
                </a:solidFill>
                <a:latin typeface="Calibri" pitchFamily="34" charset="0"/>
                <a:ea typeface="Calibri" pitchFamily="34" charset="-122"/>
                <a:cs typeface="Calibri" pitchFamily="34" charset="-120"/>
              </a:rPr>
              <a:t>• Name: identificador único del plugin</a:t>
            </a:r>
            <a:endParaRPr lang="en-US" sz="1250" dirty="0"/>
          </a:p>
          <a:p>
            <a:pPr marL="0" indent="0" algn="l">
              <a:lnSpc>
                <a:spcPct val="112000"/>
              </a:lnSpc>
              <a:buNone/>
            </a:pPr>
            <a:r>
              <a:rPr lang="en-US" sz="1250" dirty="0">
                <a:solidFill>
                  <a:srgbClr val="5B6B73"/>
                </a:solidFill>
                <a:latin typeface="Calibri" pitchFamily="34" charset="0"/>
                <a:ea typeface="Calibri" pitchFamily="34" charset="-122"/>
                <a:cs typeface="Calibri" pitchFamily="34" charset="-120"/>
              </a:rPr>
              <a:t>• Initialize: se ejecuta una vez al arrancar</a:t>
            </a:r>
            <a:endParaRPr lang="en-US" sz="1250" dirty="0"/>
          </a:p>
          <a:p>
            <a:pPr marL="0" indent="0" algn="l">
              <a:lnSpc>
                <a:spcPct val="112000"/>
              </a:lnSpc>
              <a:buNone/>
            </a:pPr>
            <a:r>
              <a:rPr lang="en-US" sz="1250" dirty="0">
                <a:solidFill>
                  <a:srgbClr val="5B6B73"/>
                </a:solidFill>
                <a:latin typeface="Calibri" pitchFamily="34" charset="0"/>
                <a:ea typeface="Calibri" pitchFamily="34" charset="-122"/>
                <a:cs typeface="Calibri" pitchFamily="34" charset="-120"/>
              </a:rPr>
              <a:t>• Execute: la lógica real, en cada petición</a:t>
            </a:r>
            <a:endParaRPr lang="en-US" sz="1250" dirty="0"/>
          </a:p>
        </p:txBody>
      </p:sp>
      <p:sp>
        <p:nvSpPr>
          <p:cNvPr id="15" name="Shape 12"/>
          <p:cNvSpPr/>
          <p:nvPr/>
        </p:nvSpPr>
        <p:spPr>
          <a:xfrm>
            <a:off x="502920" y="4526280"/>
            <a:ext cx="11155680" cy="1417320"/>
          </a:xfrm>
          <a:prstGeom prst="roundRect">
            <a:avLst>
              <a:gd name="adj" fmla="val 5161"/>
            </a:avLst>
          </a:prstGeom>
          <a:solidFill>
            <a:srgbClr val="0B1F2A"/>
          </a:solidFill>
          <a:ln/>
          <a:effectLst>
            <a:outerShdw blurRad="101600" dist="25400" dir="5400000" algn="bl" rotWithShape="0">
              <a:srgbClr val="000000">
                <a:alpha val="12000"/>
              </a:srgbClr>
            </a:outerShdw>
          </a:effectLst>
        </p:spPr>
        <p:txBody>
          <a:bodyPr/>
          <a:lstStyle/>
          <a:p>
            <a:endParaRPr lang="en-US"/>
          </a:p>
        </p:txBody>
      </p:sp>
      <p:sp>
        <p:nvSpPr>
          <p:cNvPr id="16" name="Text 13"/>
          <p:cNvSpPr/>
          <p:nvPr/>
        </p:nvSpPr>
        <p:spPr>
          <a:xfrm>
            <a:off x="868680" y="4572000"/>
            <a:ext cx="10424160" cy="1325880"/>
          </a:xfrm>
          <a:prstGeom prst="rect">
            <a:avLst/>
          </a:prstGeom>
          <a:noFill/>
          <a:ln/>
        </p:spPr>
        <p:txBody>
          <a:bodyPr wrap="square" lIns="0" tIns="0" rIns="0" bIns="0" rtlCol="0" anchor="ctr"/>
          <a:lstStyle/>
          <a:p>
            <a:pPr marL="0" indent="0">
              <a:buNone/>
            </a:pPr>
            <a:r>
              <a:rPr lang="en-US" sz="1550" i="1" dirty="0">
                <a:solidFill>
                  <a:srgbClr val="BFEFE0"/>
                </a:solidFill>
                <a:latin typeface="Calibri" pitchFamily="34" charset="0"/>
                <a:ea typeface="Calibri" pitchFamily="34" charset="-122"/>
                <a:cs typeface="Calibri" pitchFamily="34" charset="-120"/>
              </a:rPr>
              <a:t>"Esto representa el punto de extensión: la API que el núcleo expone para que los plugins se conecten."</a:t>
            </a:r>
            <a:endParaRPr lang="en-US" sz="1550" dirty="0"/>
          </a:p>
        </p:txBody>
      </p:sp>
      <p:pic>
        <p:nvPicPr>
          <p:cNvPr id="18" name="Picture 17">
            <a:extLst>
              <a:ext uri="{FF2B5EF4-FFF2-40B4-BE49-F238E27FC236}">
                <a16:creationId xmlns:a16="http://schemas.microsoft.com/office/drawing/2014/main" id="{C5E53233-18CB-ECD8-0C4B-D1643CF43A25}"/>
              </a:ext>
            </a:extLst>
          </p:cNvPr>
          <p:cNvPicPr>
            <a:picLocks noChangeAspect="1"/>
          </p:cNvPicPr>
          <p:nvPr/>
        </p:nvPicPr>
        <p:blipFill>
          <a:blip r:embed="rId4"/>
          <a:stretch>
            <a:fillRect/>
          </a:stretch>
        </p:blipFill>
        <p:spPr>
          <a:xfrm>
            <a:off x="560340" y="1371600"/>
            <a:ext cx="6518910" cy="2834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02920" y="320040"/>
            <a:ext cx="7315200" cy="274320"/>
          </a:xfrm>
          <a:prstGeom prst="rect">
            <a:avLst/>
          </a:prstGeom>
          <a:noFill/>
          <a:ln/>
        </p:spPr>
        <p:txBody>
          <a:bodyPr wrap="square" lIns="0" tIns="0" rIns="0" bIns="0" rtlCol="0" anchor="ctr"/>
          <a:lstStyle/>
          <a:p>
            <a:pPr marL="0" indent="0" algn="l">
              <a:buNone/>
            </a:pPr>
            <a:r>
              <a:rPr lang="en-US" sz="1200" b="1" kern="0" spc="200" dirty="0">
                <a:solidFill>
                  <a:srgbClr val="0E7C7B"/>
                </a:solidFill>
                <a:latin typeface="Calibri" pitchFamily="34" charset="0"/>
                <a:ea typeface="Calibri" pitchFamily="34" charset="-122"/>
                <a:cs typeface="Calibri" pitchFamily="34" charset="-120"/>
              </a:rPr>
              <a:t>PASO 2 · EL NÚCLEO</a:t>
            </a:r>
            <a:endParaRPr lang="en-US" sz="1200" dirty="0"/>
          </a:p>
        </p:txBody>
      </p:sp>
      <p:sp>
        <p:nvSpPr>
          <p:cNvPr id="3" name="Text 1"/>
          <p:cNvSpPr/>
          <p:nvPr/>
        </p:nvSpPr>
        <p:spPr>
          <a:xfrm>
            <a:off x="502920" y="566928"/>
            <a:ext cx="10607040" cy="594360"/>
          </a:xfrm>
          <a:prstGeom prst="rect">
            <a:avLst/>
          </a:prstGeom>
          <a:noFill/>
          <a:ln/>
        </p:spPr>
        <p:txBody>
          <a:bodyPr wrap="square" lIns="0" tIns="0" rIns="0" bIns="0" rtlCol="0" anchor="ctr"/>
          <a:lstStyle/>
          <a:p>
            <a:pPr marL="0" indent="0" algn="l">
              <a:buNone/>
            </a:pPr>
            <a:r>
              <a:rPr lang="en-US" sz="2800" b="1" dirty="0">
                <a:solidFill>
                  <a:srgbClr val="16252B"/>
                </a:solidFill>
                <a:latin typeface="Cambria" pitchFamily="34" charset="0"/>
                <a:ea typeface="Cambria" pitchFamily="34" charset="-122"/>
                <a:cs typeface="Cambria" pitchFamily="34" charset="-120"/>
              </a:rPr>
              <a:t>PluginManager — registra y ejecuta por nombre</a:t>
            </a:r>
            <a:endParaRPr lang="en-US" sz="2800" dirty="0"/>
          </a:p>
        </p:txBody>
      </p:sp>
      <p:sp>
        <p:nvSpPr>
          <p:cNvPr id="4" name="Text 2"/>
          <p:cNvSpPr/>
          <p:nvPr/>
        </p:nvSpPr>
        <p:spPr>
          <a:xfrm>
            <a:off x="10424160" y="6510528"/>
            <a:ext cx="1645920" cy="22860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Mundial Plugin · Microkernel</a:t>
            </a:r>
            <a:endParaRPr lang="en-US" sz="900" dirty="0"/>
          </a:p>
        </p:txBody>
      </p:sp>
      <p:sp>
        <p:nvSpPr>
          <p:cNvPr id="11" name="Shape 9"/>
          <p:cNvSpPr/>
          <p:nvPr/>
        </p:nvSpPr>
        <p:spPr>
          <a:xfrm>
            <a:off x="7315200" y="1417320"/>
            <a:ext cx="4343400" cy="4206240"/>
          </a:xfrm>
          <a:prstGeom prst="roundRect">
            <a:avLst>
              <a:gd name="adj" fmla="val 1739"/>
            </a:avLst>
          </a:prstGeom>
          <a:solidFill>
            <a:srgbClr val="FFFFFF"/>
          </a:solidFill>
          <a:ln/>
          <a:effectLst>
            <a:outerShdw blurRad="101600" dist="25400" dir="5400000" algn="bl" rotWithShape="0">
              <a:srgbClr val="000000">
                <a:alpha val="12000"/>
              </a:srgbClr>
            </a:outerShdw>
          </a:effectLst>
        </p:spPr>
        <p:txBody>
          <a:bodyPr/>
          <a:lstStyle/>
          <a:p>
            <a:endParaRPr lang="en-US"/>
          </a:p>
        </p:txBody>
      </p:sp>
      <p:pic>
        <p:nvPicPr>
          <p:cNvPr id="12" name="Image 0" descr="icon_cogs.png"/>
          <p:cNvPicPr>
            <a:picLocks noChangeAspect="1"/>
          </p:cNvPicPr>
          <p:nvPr/>
        </p:nvPicPr>
        <p:blipFill>
          <a:blip r:embed="rId3"/>
          <a:stretch>
            <a:fillRect/>
          </a:stretch>
        </p:blipFill>
        <p:spPr>
          <a:xfrm>
            <a:off x="7516368" y="1600200"/>
            <a:ext cx="365760" cy="365760"/>
          </a:xfrm>
          <a:prstGeom prst="rect">
            <a:avLst/>
          </a:prstGeom>
        </p:spPr>
      </p:pic>
      <p:sp>
        <p:nvSpPr>
          <p:cNvPr id="13" name="Text 10"/>
          <p:cNvSpPr/>
          <p:nvPr/>
        </p:nvSpPr>
        <p:spPr>
          <a:xfrm>
            <a:off x="8001000" y="1563624"/>
            <a:ext cx="3429000" cy="365760"/>
          </a:xfrm>
          <a:prstGeom prst="rect">
            <a:avLst/>
          </a:prstGeom>
          <a:noFill/>
          <a:ln/>
        </p:spPr>
        <p:txBody>
          <a:bodyPr wrap="square" lIns="0" tIns="0" rIns="0" bIns="0" rtlCol="0" anchor="ctr"/>
          <a:lstStyle/>
          <a:p>
            <a:pPr marL="0" indent="0" algn="l">
              <a:buNone/>
            </a:pPr>
            <a:r>
              <a:rPr lang="en-US" sz="1400" b="1" dirty="0">
                <a:solidFill>
                  <a:srgbClr val="16252B"/>
                </a:solidFill>
                <a:latin typeface="Calibri" pitchFamily="34" charset="0"/>
                <a:ea typeface="Calibri" pitchFamily="34" charset="-122"/>
                <a:cs typeface="Calibri" pitchFamily="34" charset="-120"/>
              </a:rPr>
              <a:t>Cero lógica de fútbol</a:t>
            </a:r>
            <a:endParaRPr lang="en-US" sz="1400" dirty="0"/>
          </a:p>
        </p:txBody>
      </p:sp>
      <p:sp>
        <p:nvSpPr>
          <p:cNvPr id="14" name="Text 11"/>
          <p:cNvSpPr/>
          <p:nvPr/>
        </p:nvSpPr>
        <p:spPr>
          <a:xfrm>
            <a:off x="7543800" y="1984248"/>
            <a:ext cx="3886200" cy="3493008"/>
          </a:xfrm>
          <a:prstGeom prst="rect">
            <a:avLst/>
          </a:prstGeom>
          <a:noFill/>
          <a:ln/>
        </p:spPr>
        <p:txBody>
          <a:bodyPr wrap="square" lIns="0" tIns="0" rIns="0" bIns="0" rtlCol="0" anchor="t"/>
          <a:lstStyle/>
          <a:p>
            <a:pPr marL="0" indent="0" algn="l">
              <a:lnSpc>
                <a:spcPct val="112000"/>
              </a:lnSpc>
              <a:buNone/>
            </a:pPr>
            <a:r>
              <a:rPr lang="en-US" sz="1200" dirty="0">
                <a:solidFill>
                  <a:srgbClr val="5B6B73"/>
                </a:solidFill>
                <a:latin typeface="Calibri" pitchFamily="34" charset="0"/>
                <a:ea typeface="Calibri" pitchFamily="34" charset="-122"/>
                <a:cs typeface="Calibri" pitchFamily="34" charset="-120"/>
              </a:rPr>
              <a:t>Esta clase no sabe qué es un marcador, un ranking o una predicción.</a:t>
            </a:r>
            <a:endParaRPr lang="en-US" sz="1200" dirty="0"/>
          </a:p>
          <a:p>
            <a:pPr marL="0" indent="0" algn="l">
              <a:lnSpc>
                <a:spcPct val="112000"/>
              </a:lnSpc>
              <a:buNone/>
            </a:pPr>
            <a:endParaRPr lang="en-US" sz="1200" dirty="0"/>
          </a:p>
          <a:p>
            <a:pPr marL="0" indent="0" algn="l">
              <a:lnSpc>
                <a:spcPct val="112000"/>
              </a:lnSpc>
              <a:buNone/>
            </a:pPr>
            <a:r>
              <a:rPr lang="en-US" sz="1200" dirty="0">
                <a:solidFill>
                  <a:srgbClr val="5B6B73"/>
                </a:solidFill>
                <a:latin typeface="Calibri" pitchFamily="34" charset="0"/>
                <a:ea typeface="Calibri" pitchFamily="34" charset="-122"/>
                <a:cs typeface="Calibri" pitchFamily="34" charset="-120"/>
              </a:rPr>
              <a:t>Solo tiene un diccionario (nombre → plugin) y dos métodos:</a:t>
            </a:r>
            <a:endParaRPr lang="en-US" sz="1200" dirty="0"/>
          </a:p>
          <a:p>
            <a:pPr marL="0" indent="0" algn="l">
              <a:lnSpc>
                <a:spcPct val="112000"/>
              </a:lnSpc>
              <a:buNone/>
            </a:pPr>
            <a:endParaRPr lang="en-US" sz="1200" dirty="0"/>
          </a:p>
          <a:p>
            <a:pPr marL="0" indent="0" algn="l">
              <a:lnSpc>
                <a:spcPct val="112000"/>
              </a:lnSpc>
              <a:buNone/>
            </a:pPr>
            <a:r>
              <a:rPr lang="en-US" sz="1200" dirty="0">
                <a:solidFill>
                  <a:srgbClr val="5B6B73"/>
                </a:solidFill>
                <a:latin typeface="Calibri" pitchFamily="34" charset="0"/>
                <a:ea typeface="Calibri" pitchFamily="34" charset="-122"/>
                <a:cs typeface="Calibri" pitchFamily="34" charset="-120"/>
              </a:rPr>
              <a:t>Register — agrega un plugin nuevo</a:t>
            </a:r>
            <a:endParaRPr lang="en-US" sz="1200" dirty="0"/>
          </a:p>
          <a:p>
            <a:pPr marL="0" indent="0" algn="l">
              <a:lnSpc>
                <a:spcPct val="112000"/>
              </a:lnSpc>
              <a:buNone/>
            </a:pPr>
            <a:endParaRPr lang="en-US" sz="1200" dirty="0"/>
          </a:p>
          <a:p>
            <a:pPr marL="0" indent="0" algn="l">
              <a:lnSpc>
                <a:spcPct val="112000"/>
              </a:lnSpc>
              <a:buNone/>
            </a:pPr>
            <a:r>
              <a:rPr lang="en-US" sz="1200" dirty="0">
                <a:solidFill>
                  <a:srgbClr val="5B6B73"/>
                </a:solidFill>
                <a:latin typeface="Calibri" pitchFamily="34" charset="0"/>
                <a:ea typeface="Calibri" pitchFamily="34" charset="-122"/>
                <a:cs typeface="Calibri" pitchFamily="34" charset="-120"/>
              </a:rPr>
              <a:t>Run — busca por nombre y ejecuta</a:t>
            </a:r>
            <a:endParaRPr lang="en-US" sz="1200" dirty="0"/>
          </a:p>
          <a:p>
            <a:pPr marL="0" indent="0" algn="l">
              <a:lnSpc>
                <a:spcPct val="112000"/>
              </a:lnSpc>
              <a:buNone/>
            </a:pPr>
            <a:endParaRPr lang="en-US" sz="1200" dirty="0"/>
          </a:p>
          <a:p>
            <a:pPr marL="0" indent="0" algn="l">
              <a:lnSpc>
                <a:spcPct val="112000"/>
              </a:lnSpc>
              <a:buNone/>
            </a:pPr>
            <a:r>
              <a:rPr lang="en-US" sz="1200" dirty="0">
                <a:solidFill>
                  <a:srgbClr val="5B6B73"/>
                </a:solidFill>
                <a:latin typeface="Calibri" pitchFamily="34" charset="0"/>
                <a:ea typeface="Calibri" pitchFamily="34" charset="-122"/>
                <a:cs typeface="Calibri" pitchFamily="34" charset="-120"/>
              </a:rPr>
              <a:t>Esto es el núcleo siendo completamente genérico.</a:t>
            </a:r>
            <a:endParaRPr lang="en-US" sz="1200" dirty="0"/>
          </a:p>
        </p:txBody>
      </p:sp>
      <p:pic>
        <p:nvPicPr>
          <p:cNvPr id="16" name="Picture 15">
            <a:extLst>
              <a:ext uri="{FF2B5EF4-FFF2-40B4-BE49-F238E27FC236}">
                <a16:creationId xmlns:a16="http://schemas.microsoft.com/office/drawing/2014/main" id="{16421572-CF0C-8FD6-4A2C-47682CF3D87E}"/>
              </a:ext>
            </a:extLst>
          </p:cNvPr>
          <p:cNvPicPr>
            <a:picLocks noChangeAspect="1"/>
          </p:cNvPicPr>
          <p:nvPr/>
        </p:nvPicPr>
        <p:blipFill>
          <a:blip r:embed="rId4"/>
          <a:stretch>
            <a:fillRect/>
          </a:stretch>
        </p:blipFill>
        <p:spPr>
          <a:xfrm>
            <a:off x="502920" y="1417319"/>
            <a:ext cx="6649993" cy="420623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02920" y="320040"/>
            <a:ext cx="7315200" cy="274320"/>
          </a:xfrm>
          <a:prstGeom prst="rect">
            <a:avLst/>
          </a:prstGeom>
          <a:noFill/>
          <a:ln/>
        </p:spPr>
        <p:txBody>
          <a:bodyPr wrap="square" lIns="0" tIns="0" rIns="0" bIns="0" rtlCol="0" anchor="ctr"/>
          <a:lstStyle/>
          <a:p>
            <a:pPr marL="0" indent="0" algn="l">
              <a:buNone/>
            </a:pPr>
            <a:r>
              <a:rPr lang="en-US" sz="1200" b="1" kern="0" spc="200" dirty="0">
                <a:solidFill>
                  <a:srgbClr val="0E7C7B"/>
                </a:solidFill>
                <a:latin typeface="Calibri" pitchFamily="34" charset="0"/>
                <a:ea typeface="Calibri" pitchFamily="34" charset="-122"/>
                <a:cs typeface="Calibri" pitchFamily="34" charset="-120"/>
              </a:rPr>
              <a:t>PASO 3 · UN PLUGIN REAL</a:t>
            </a:r>
            <a:endParaRPr lang="en-US" sz="1200" dirty="0"/>
          </a:p>
        </p:txBody>
      </p:sp>
      <p:sp>
        <p:nvSpPr>
          <p:cNvPr id="3" name="Text 1"/>
          <p:cNvSpPr/>
          <p:nvPr/>
        </p:nvSpPr>
        <p:spPr>
          <a:xfrm>
            <a:off x="502920" y="566928"/>
            <a:ext cx="10607040" cy="594360"/>
          </a:xfrm>
          <a:prstGeom prst="rect">
            <a:avLst/>
          </a:prstGeom>
          <a:noFill/>
          <a:ln/>
        </p:spPr>
        <p:txBody>
          <a:bodyPr wrap="square" lIns="0" tIns="0" rIns="0" bIns="0" rtlCol="0" anchor="ctr"/>
          <a:lstStyle/>
          <a:p>
            <a:pPr marL="0" indent="0" algn="l">
              <a:buNone/>
            </a:pPr>
            <a:r>
              <a:rPr lang="en-US" sz="2800" b="1" dirty="0">
                <a:solidFill>
                  <a:srgbClr val="16252B"/>
                </a:solidFill>
                <a:latin typeface="Cambria" pitchFamily="34" charset="0"/>
                <a:ea typeface="Cambria" pitchFamily="34" charset="-122"/>
                <a:cs typeface="Cambria" pitchFamily="34" charset="-120"/>
              </a:rPr>
              <a:t>MatchScorePlugin — donde vive la lógica de negocio</a:t>
            </a:r>
            <a:endParaRPr lang="en-US" sz="2800" dirty="0"/>
          </a:p>
        </p:txBody>
      </p:sp>
      <p:sp>
        <p:nvSpPr>
          <p:cNvPr id="4" name="Text 2"/>
          <p:cNvSpPr/>
          <p:nvPr/>
        </p:nvSpPr>
        <p:spPr>
          <a:xfrm>
            <a:off x="10424160" y="6510528"/>
            <a:ext cx="1645920" cy="22860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Mundial Plugin · Microkernel</a:t>
            </a:r>
            <a:endParaRPr lang="en-US" sz="900" dirty="0"/>
          </a:p>
        </p:txBody>
      </p:sp>
      <p:sp>
        <p:nvSpPr>
          <p:cNvPr id="17" name="Shape 15"/>
          <p:cNvSpPr/>
          <p:nvPr/>
        </p:nvSpPr>
        <p:spPr>
          <a:xfrm>
            <a:off x="502920" y="4343400"/>
            <a:ext cx="11155680" cy="1600200"/>
          </a:xfrm>
          <a:prstGeom prst="roundRect">
            <a:avLst>
              <a:gd name="adj" fmla="val 4571"/>
            </a:avLst>
          </a:prstGeom>
          <a:solidFill>
            <a:srgbClr val="0B1F2A"/>
          </a:solidFill>
          <a:ln/>
          <a:effectLst>
            <a:outerShdw blurRad="101600" dist="25400" dir="5400000" algn="bl" rotWithShape="0">
              <a:srgbClr val="000000">
                <a:alpha val="12000"/>
              </a:srgbClr>
            </a:outerShdw>
          </a:effectLst>
        </p:spPr>
        <p:txBody>
          <a:bodyPr/>
          <a:lstStyle/>
          <a:p>
            <a:endParaRPr lang="en-US"/>
          </a:p>
        </p:txBody>
      </p:sp>
      <p:pic>
        <p:nvPicPr>
          <p:cNvPr id="18" name="Image 0" descr="icon_exchange_white.png"/>
          <p:cNvPicPr>
            <a:picLocks noChangeAspect="1"/>
          </p:cNvPicPr>
          <p:nvPr/>
        </p:nvPicPr>
        <p:blipFill>
          <a:blip r:embed="rId3"/>
          <a:stretch>
            <a:fillRect/>
          </a:stretch>
        </p:blipFill>
        <p:spPr>
          <a:xfrm>
            <a:off x="777240" y="4617720"/>
            <a:ext cx="457200" cy="457200"/>
          </a:xfrm>
          <a:prstGeom prst="rect">
            <a:avLst/>
          </a:prstGeom>
        </p:spPr>
      </p:pic>
      <p:sp>
        <p:nvSpPr>
          <p:cNvPr id="19" name="Text 16"/>
          <p:cNvSpPr/>
          <p:nvPr/>
        </p:nvSpPr>
        <p:spPr>
          <a:xfrm>
            <a:off x="1371600" y="4572000"/>
            <a:ext cx="10058400" cy="640080"/>
          </a:xfrm>
          <a:prstGeom prst="rect">
            <a:avLst/>
          </a:prstGeom>
          <a:noFill/>
          <a:ln/>
        </p:spPr>
        <p:txBody>
          <a:bodyPr wrap="square" lIns="0" tIns="0" rIns="0" bIns="0" rtlCol="0" anchor="t"/>
          <a:lstStyle/>
          <a:p>
            <a:pPr marL="0" indent="0">
              <a:lnSpc>
                <a:spcPct val="120000"/>
              </a:lnSpc>
              <a:buNone/>
            </a:pPr>
            <a:r>
              <a:rPr lang="en-US" sz="1300" b="1" dirty="0">
                <a:solidFill>
                  <a:srgbClr val="BFEFE0"/>
                </a:solidFill>
                <a:latin typeface="Calibri" pitchFamily="34" charset="0"/>
                <a:ea typeface="Calibri" pitchFamily="34" charset="-122"/>
                <a:cs typeface="Calibri" pitchFamily="34" charset="-120"/>
              </a:rPr>
              <a:t>Comunicación indirecta (Pub/Sub).  </a:t>
            </a:r>
            <a:r>
              <a:rPr lang="en-US" sz="1300" dirty="0">
                <a:solidFill>
                  <a:srgbClr val="DCE7E9"/>
                </a:solidFill>
                <a:latin typeface="Calibri" pitchFamily="34" charset="0"/>
                <a:ea typeface="Calibri" pitchFamily="34" charset="-122"/>
                <a:cs typeface="Calibri" pitchFamily="34" charset="-120"/>
              </a:rPr>
              <a:t>MatchScorePlugin publica el evento </a:t>
            </a:r>
            <a:r>
              <a:rPr lang="en-US" sz="1300" dirty="0">
                <a:solidFill>
                  <a:srgbClr val="BFEFE0"/>
                </a:solidFill>
                <a:latin typeface="Courier New" pitchFamily="34" charset="0"/>
                <a:ea typeface="Courier New" pitchFamily="34" charset="-122"/>
                <a:cs typeface="Courier New" pitchFamily="34" charset="-120"/>
              </a:rPr>
              <a:t>"MatchPlayed"</a:t>
            </a:r>
            <a:r>
              <a:rPr lang="en-US" sz="1300" dirty="0">
                <a:solidFill>
                  <a:srgbClr val="DCE7E9"/>
                </a:solidFill>
                <a:latin typeface="Calibri" pitchFamily="34" charset="0"/>
                <a:ea typeface="Calibri" pitchFamily="34" charset="-122"/>
                <a:cs typeface="Calibri" pitchFamily="34" charset="-120"/>
              </a:rPr>
              <a:t> y PredictionPlugin está suscrito a él. Ninguno de los dos se conoce directamente, solo conocen al IAppContext.</a:t>
            </a:r>
            <a:endParaRPr lang="en-US" sz="1300" dirty="0"/>
          </a:p>
        </p:txBody>
      </p:sp>
      <p:sp>
        <p:nvSpPr>
          <p:cNvPr id="20" name="Text 17"/>
          <p:cNvSpPr/>
          <p:nvPr/>
        </p:nvSpPr>
        <p:spPr>
          <a:xfrm>
            <a:off x="1371600" y="5138928"/>
            <a:ext cx="10058400" cy="457200"/>
          </a:xfrm>
          <a:prstGeom prst="rect">
            <a:avLst/>
          </a:prstGeom>
          <a:noFill/>
          <a:ln/>
        </p:spPr>
        <p:txBody>
          <a:bodyPr wrap="square" lIns="0" tIns="0" rIns="0" bIns="0" rtlCol="0" anchor="t"/>
          <a:lstStyle/>
          <a:p>
            <a:pPr marL="0" indent="0">
              <a:buNone/>
            </a:pPr>
            <a:r>
              <a:rPr lang="en-US" sz="1300" i="1" dirty="0">
                <a:solidFill>
                  <a:srgbClr val="9FB7BD"/>
                </a:solidFill>
                <a:latin typeface="Calibri" pitchFamily="34" charset="0"/>
                <a:ea typeface="Calibri" pitchFamily="34" charset="-122"/>
                <a:cs typeface="Calibri" pitchFamily="34" charset="-120"/>
              </a:rPr>
              <a:t>Así se evita el acoplamiento directo entre plugins, igual que en el diagrama de la teoría.</a:t>
            </a:r>
            <a:endParaRPr lang="en-US" sz="1300" dirty="0"/>
          </a:p>
        </p:txBody>
      </p:sp>
      <p:pic>
        <p:nvPicPr>
          <p:cNvPr id="22" name="Picture 21">
            <a:extLst>
              <a:ext uri="{FF2B5EF4-FFF2-40B4-BE49-F238E27FC236}">
                <a16:creationId xmlns:a16="http://schemas.microsoft.com/office/drawing/2014/main" id="{AEF0B7BF-EDC6-D358-2DF0-1B56BE97B493}"/>
              </a:ext>
            </a:extLst>
          </p:cNvPr>
          <p:cNvPicPr>
            <a:picLocks noChangeAspect="1"/>
          </p:cNvPicPr>
          <p:nvPr/>
        </p:nvPicPr>
        <p:blipFill>
          <a:blip r:embed="rId4"/>
          <a:stretch>
            <a:fillRect/>
          </a:stretch>
        </p:blipFill>
        <p:spPr>
          <a:xfrm>
            <a:off x="528814" y="1371599"/>
            <a:ext cx="5539326" cy="2788919"/>
          </a:xfrm>
          <a:prstGeom prst="rect">
            <a:avLst/>
          </a:prstGeom>
        </p:spPr>
      </p:pic>
      <p:pic>
        <p:nvPicPr>
          <p:cNvPr id="24" name="Picture 23">
            <a:extLst>
              <a:ext uri="{FF2B5EF4-FFF2-40B4-BE49-F238E27FC236}">
                <a16:creationId xmlns:a16="http://schemas.microsoft.com/office/drawing/2014/main" id="{9CE3C6E0-76A5-608F-753D-B0A309840110}"/>
              </a:ext>
            </a:extLst>
          </p:cNvPr>
          <p:cNvPicPr>
            <a:picLocks noChangeAspect="1"/>
          </p:cNvPicPr>
          <p:nvPr/>
        </p:nvPicPr>
        <p:blipFill>
          <a:blip r:embed="rId5"/>
          <a:stretch>
            <a:fillRect/>
          </a:stretch>
        </p:blipFill>
        <p:spPr>
          <a:xfrm>
            <a:off x="6172212" y="1371598"/>
            <a:ext cx="5469148" cy="278891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02920" y="320040"/>
            <a:ext cx="7315200" cy="274320"/>
          </a:xfrm>
          <a:prstGeom prst="rect">
            <a:avLst/>
          </a:prstGeom>
          <a:noFill/>
          <a:ln/>
        </p:spPr>
        <p:txBody>
          <a:bodyPr wrap="square" lIns="0" tIns="0" rIns="0" bIns="0" rtlCol="0" anchor="ctr"/>
          <a:lstStyle/>
          <a:p>
            <a:pPr marL="0" indent="0" algn="l">
              <a:buNone/>
            </a:pPr>
            <a:r>
              <a:rPr lang="en-US" sz="1200" b="1" kern="0" spc="200" dirty="0">
                <a:solidFill>
                  <a:srgbClr val="0E7C7B"/>
                </a:solidFill>
                <a:latin typeface="Calibri" pitchFamily="34" charset="0"/>
                <a:ea typeface="Calibri" pitchFamily="34" charset="-122"/>
                <a:cs typeface="Calibri" pitchFamily="34" charset="-120"/>
              </a:rPr>
              <a:t>PASO 4 · ENSAMBLAJE Y ENTRADA HTTP</a:t>
            </a:r>
            <a:endParaRPr lang="en-US" sz="1200" dirty="0"/>
          </a:p>
        </p:txBody>
      </p:sp>
      <p:sp>
        <p:nvSpPr>
          <p:cNvPr id="3" name="Text 1"/>
          <p:cNvSpPr/>
          <p:nvPr/>
        </p:nvSpPr>
        <p:spPr>
          <a:xfrm>
            <a:off x="502920" y="566928"/>
            <a:ext cx="10607040" cy="594360"/>
          </a:xfrm>
          <a:prstGeom prst="rect">
            <a:avLst/>
          </a:prstGeom>
          <a:noFill/>
          <a:ln/>
        </p:spPr>
        <p:txBody>
          <a:bodyPr wrap="square" lIns="0" tIns="0" rIns="0" bIns="0" rtlCol="0" anchor="ctr"/>
          <a:lstStyle/>
          <a:p>
            <a:pPr marL="0" indent="0" algn="l">
              <a:buNone/>
            </a:pPr>
            <a:r>
              <a:rPr lang="en-US" sz="2800" b="1" dirty="0">
                <a:solidFill>
                  <a:srgbClr val="16252B"/>
                </a:solidFill>
                <a:latin typeface="Cambria" pitchFamily="34" charset="0"/>
                <a:ea typeface="Cambria" pitchFamily="34" charset="-122"/>
                <a:cs typeface="Cambria" pitchFamily="34" charset="-120"/>
              </a:rPr>
              <a:t>Program.cs registra; el Controller traduce</a:t>
            </a:r>
            <a:endParaRPr lang="en-US" sz="2800" dirty="0"/>
          </a:p>
        </p:txBody>
      </p:sp>
      <p:sp>
        <p:nvSpPr>
          <p:cNvPr id="4" name="Text 2"/>
          <p:cNvSpPr/>
          <p:nvPr/>
        </p:nvSpPr>
        <p:spPr>
          <a:xfrm>
            <a:off x="10424160" y="6510528"/>
            <a:ext cx="1645920" cy="22860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Mundial Plugin · Microkernel</a:t>
            </a:r>
            <a:endParaRPr lang="en-US" sz="900" dirty="0"/>
          </a:p>
        </p:txBody>
      </p:sp>
      <p:sp>
        <p:nvSpPr>
          <p:cNvPr id="17" name="Shape 15"/>
          <p:cNvSpPr/>
          <p:nvPr/>
        </p:nvSpPr>
        <p:spPr>
          <a:xfrm>
            <a:off x="502920" y="4343400"/>
            <a:ext cx="11155680" cy="1691640"/>
          </a:xfrm>
          <a:prstGeom prst="roundRect">
            <a:avLst>
              <a:gd name="adj" fmla="val 4324"/>
            </a:avLst>
          </a:prstGeom>
          <a:solidFill>
            <a:srgbClr val="FFFFFF"/>
          </a:solidFill>
          <a:ln/>
          <a:effectLst>
            <a:outerShdw blurRad="101600" dist="25400" dir="5400000" algn="bl" rotWithShape="0">
              <a:srgbClr val="000000">
                <a:alpha val="12000"/>
              </a:srgbClr>
            </a:outerShdw>
          </a:effectLst>
        </p:spPr>
        <p:txBody>
          <a:bodyPr/>
          <a:lstStyle/>
          <a:p>
            <a:endParaRPr lang="en-US"/>
          </a:p>
        </p:txBody>
      </p:sp>
      <p:pic>
        <p:nvPicPr>
          <p:cNvPr id="18" name="Image 0" descr="icon_check.png"/>
          <p:cNvPicPr>
            <a:picLocks noChangeAspect="1"/>
          </p:cNvPicPr>
          <p:nvPr/>
        </p:nvPicPr>
        <p:blipFill>
          <a:blip r:embed="rId3"/>
          <a:stretch>
            <a:fillRect/>
          </a:stretch>
        </p:blipFill>
        <p:spPr>
          <a:xfrm>
            <a:off x="704088" y="4526280"/>
            <a:ext cx="365760" cy="365760"/>
          </a:xfrm>
          <a:prstGeom prst="rect">
            <a:avLst/>
          </a:prstGeom>
        </p:spPr>
      </p:pic>
      <p:sp>
        <p:nvSpPr>
          <p:cNvPr id="19" name="Text 16"/>
          <p:cNvSpPr/>
          <p:nvPr/>
        </p:nvSpPr>
        <p:spPr>
          <a:xfrm>
            <a:off x="1188720" y="4489704"/>
            <a:ext cx="10241280" cy="365760"/>
          </a:xfrm>
          <a:prstGeom prst="rect">
            <a:avLst/>
          </a:prstGeom>
          <a:noFill/>
          <a:ln/>
        </p:spPr>
        <p:txBody>
          <a:bodyPr wrap="square" lIns="0" tIns="0" rIns="0" bIns="0" rtlCol="0" anchor="ctr"/>
          <a:lstStyle/>
          <a:p>
            <a:pPr marL="0" indent="0" algn="l">
              <a:buNone/>
            </a:pPr>
            <a:r>
              <a:rPr lang="en-US" sz="1400" b="1" dirty="0">
                <a:solidFill>
                  <a:srgbClr val="16252B"/>
                </a:solidFill>
                <a:latin typeface="Calibri" pitchFamily="34" charset="0"/>
                <a:ea typeface="Calibri" pitchFamily="34" charset="-122"/>
                <a:cs typeface="Calibri" pitchFamily="34" charset="-120"/>
              </a:rPr>
              <a:t>Extensible sin modificar lo existente</a:t>
            </a:r>
            <a:endParaRPr lang="en-US" sz="1400" dirty="0"/>
          </a:p>
        </p:txBody>
      </p:sp>
      <p:sp>
        <p:nvSpPr>
          <p:cNvPr id="20" name="Text 17"/>
          <p:cNvSpPr/>
          <p:nvPr/>
        </p:nvSpPr>
        <p:spPr>
          <a:xfrm>
            <a:off x="731520" y="4910328"/>
            <a:ext cx="10698480" cy="978408"/>
          </a:xfrm>
          <a:prstGeom prst="rect">
            <a:avLst/>
          </a:prstGeom>
          <a:noFill/>
          <a:ln/>
        </p:spPr>
        <p:txBody>
          <a:bodyPr wrap="square" lIns="0" tIns="0" rIns="0" bIns="0" rtlCol="0" anchor="t"/>
          <a:lstStyle/>
          <a:p>
            <a:pPr marL="0" indent="0" algn="l">
              <a:lnSpc>
                <a:spcPct val="112000"/>
              </a:lnSpc>
              <a:buNone/>
            </a:pPr>
            <a:r>
              <a:rPr lang="en-US" sz="1300" dirty="0">
                <a:solidFill>
                  <a:srgbClr val="5B6B73"/>
                </a:solidFill>
                <a:latin typeface="Calibri" pitchFamily="34" charset="0"/>
                <a:ea typeface="Calibri" pitchFamily="34" charset="-122"/>
                <a:cs typeface="Calibri" pitchFamily="34" charset="-120"/>
              </a:rPr>
              <a:t>Si agrego un cuarto plugin (ej. Goleadores), NO toco el núcleo ni el Controller: solo creo la clase y la registro en Program.cs. Esa es la prueba real de que la arquitectura cumple el principio abierto a extensión, cerrado a modificación.</a:t>
            </a:r>
            <a:endParaRPr lang="en-US" sz="1300" dirty="0"/>
          </a:p>
        </p:txBody>
      </p:sp>
      <p:pic>
        <p:nvPicPr>
          <p:cNvPr id="24" name="Picture 23">
            <a:extLst>
              <a:ext uri="{FF2B5EF4-FFF2-40B4-BE49-F238E27FC236}">
                <a16:creationId xmlns:a16="http://schemas.microsoft.com/office/drawing/2014/main" id="{5072499B-597D-37A1-6B65-C03075FF6660}"/>
              </a:ext>
            </a:extLst>
          </p:cNvPr>
          <p:cNvPicPr>
            <a:picLocks noChangeAspect="1"/>
          </p:cNvPicPr>
          <p:nvPr/>
        </p:nvPicPr>
        <p:blipFill>
          <a:blip r:embed="rId4"/>
          <a:stretch>
            <a:fillRect/>
          </a:stretch>
        </p:blipFill>
        <p:spPr>
          <a:xfrm>
            <a:off x="554680" y="1360040"/>
            <a:ext cx="5532120" cy="2743200"/>
          </a:xfrm>
          <a:prstGeom prst="rect">
            <a:avLst/>
          </a:prstGeom>
        </p:spPr>
      </p:pic>
      <p:pic>
        <p:nvPicPr>
          <p:cNvPr id="26" name="Picture 25">
            <a:extLst>
              <a:ext uri="{FF2B5EF4-FFF2-40B4-BE49-F238E27FC236}">
                <a16:creationId xmlns:a16="http://schemas.microsoft.com/office/drawing/2014/main" id="{DA18B5F3-A2C4-53C9-B7BB-1C1A9ED63FCC}"/>
              </a:ext>
            </a:extLst>
          </p:cNvPr>
          <p:cNvPicPr>
            <a:picLocks noChangeAspect="1"/>
          </p:cNvPicPr>
          <p:nvPr/>
        </p:nvPicPr>
        <p:blipFill>
          <a:blip r:embed="rId5"/>
          <a:stretch>
            <a:fillRect/>
          </a:stretch>
        </p:blipFill>
        <p:spPr>
          <a:xfrm>
            <a:off x="6226555" y="1371600"/>
            <a:ext cx="5419400" cy="2731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8"/>
        </a:solidFill>
        <a:effectLst/>
      </p:bgPr>
    </p:bg>
    <p:spTree>
      <p:nvGrpSpPr>
        <p:cNvPr id="1" name=""/>
        <p:cNvGrpSpPr/>
        <p:nvPr/>
      </p:nvGrpSpPr>
      <p:grpSpPr>
        <a:xfrm>
          <a:off x="0" y="0"/>
          <a:ext cx="0" cy="0"/>
          <a:chOff x="0" y="0"/>
          <a:chExt cx="0" cy="0"/>
        </a:xfrm>
      </p:grpSpPr>
      <p:sp>
        <p:nvSpPr>
          <p:cNvPr id="2" name="Text 0"/>
          <p:cNvSpPr/>
          <p:nvPr/>
        </p:nvSpPr>
        <p:spPr>
          <a:xfrm>
            <a:off x="502920" y="320040"/>
            <a:ext cx="7315200" cy="274320"/>
          </a:xfrm>
          <a:prstGeom prst="rect">
            <a:avLst/>
          </a:prstGeom>
          <a:noFill/>
          <a:ln/>
        </p:spPr>
        <p:txBody>
          <a:bodyPr wrap="square" lIns="0" tIns="0" rIns="0" bIns="0" rtlCol="0" anchor="ctr"/>
          <a:lstStyle/>
          <a:p>
            <a:pPr marL="0" indent="0" algn="l">
              <a:buNone/>
            </a:pPr>
            <a:r>
              <a:rPr lang="en-US" sz="1200" b="1" kern="0" spc="200" dirty="0">
                <a:solidFill>
                  <a:srgbClr val="0E7C7B"/>
                </a:solidFill>
                <a:latin typeface="Calibri" pitchFamily="34" charset="0"/>
                <a:ea typeface="Calibri" pitchFamily="34" charset="-122"/>
                <a:cs typeface="Calibri" pitchFamily="34" charset="-120"/>
              </a:rPr>
              <a:t>DE EXTREMO A EXTREMO</a:t>
            </a:r>
            <a:endParaRPr lang="en-US" sz="1200" dirty="0"/>
          </a:p>
        </p:txBody>
      </p:sp>
      <p:sp>
        <p:nvSpPr>
          <p:cNvPr id="3" name="Text 1"/>
          <p:cNvSpPr/>
          <p:nvPr/>
        </p:nvSpPr>
        <p:spPr>
          <a:xfrm>
            <a:off x="502920" y="566928"/>
            <a:ext cx="10607040" cy="594360"/>
          </a:xfrm>
          <a:prstGeom prst="rect">
            <a:avLst/>
          </a:prstGeom>
          <a:noFill/>
          <a:ln/>
        </p:spPr>
        <p:txBody>
          <a:bodyPr wrap="square" lIns="0" tIns="0" rIns="0" bIns="0" rtlCol="0" anchor="ctr"/>
          <a:lstStyle/>
          <a:p>
            <a:pPr marL="0" indent="0" algn="l">
              <a:buNone/>
            </a:pPr>
            <a:r>
              <a:rPr lang="en-US" sz="2800" b="1" dirty="0">
                <a:solidFill>
                  <a:srgbClr val="16252B"/>
                </a:solidFill>
                <a:latin typeface="Cambria" pitchFamily="34" charset="0"/>
                <a:ea typeface="Cambria" pitchFamily="34" charset="-122"/>
                <a:cs typeface="Cambria" pitchFamily="34" charset="-120"/>
              </a:rPr>
              <a:t>El flujo completo: del clic a la tarjeta visual</a:t>
            </a:r>
            <a:endParaRPr lang="en-US" sz="2800" dirty="0"/>
          </a:p>
        </p:txBody>
      </p:sp>
      <p:sp>
        <p:nvSpPr>
          <p:cNvPr id="4" name="Text 2"/>
          <p:cNvSpPr/>
          <p:nvPr/>
        </p:nvSpPr>
        <p:spPr>
          <a:xfrm>
            <a:off x="10424160" y="6510528"/>
            <a:ext cx="1645920" cy="228600"/>
          </a:xfrm>
          <a:prstGeom prst="rect">
            <a:avLst/>
          </a:prstGeom>
          <a:noFill/>
          <a:ln/>
        </p:spPr>
        <p:txBody>
          <a:bodyPr wrap="square" lIns="0" tIns="0" rIns="0" bIns="0" rtlCol="0" anchor="ctr"/>
          <a:lstStyle/>
          <a:p>
            <a:pPr marL="0" indent="0" algn="r">
              <a:buNone/>
            </a:pPr>
            <a:r>
              <a:rPr lang="en-US" sz="900" dirty="0">
                <a:solidFill>
                  <a:srgbClr val="5B6B73"/>
                </a:solidFill>
                <a:latin typeface="Calibri" pitchFamily="34" charset="0"/>
                <a:ea typeface="Calibri" pitchFamily="34" charset="-122"/>
                <a:cs typeface="Calibri" pitchFamily="34" charset="-120"/>
              </a:rPr>
              <a:t>Mundial Plugin · Microkernel</a:t>
            </a:r>
            <a:endParaRPr lang="en-US" sz="900" dirty="0"/>
          </a:p>
        </p:txBody>
      </p:sp>
      <p:sp>
        <p:nvSpPr>
          <p:cNvPr id="5" name="Shape 3"/>
          <p:cNvSpPr/>
          <p:nvPr/>
        </p:nvSpPr>
        <p:spPr>
          <a:xfrm>
            <a:off x="502920" y="2286000"/>
            <a:ext cx="2048256" cy="2103120"/>
          </a:xfrm>
          <a:prstGeom prst="roundRect">
            <a:avLst>
              <a:gd name="adj" fmla="val 3571"/>
            </a:avLst>
          </a:prstGeom>
          <a:solidFill>
            <a:srgbClr val="10293A"/>
          </a:solidFill>
          <a:ln/>
          <a:effectLst>
            <a:outerShdw blurRad="101600" dist="25400" dir="5400000" algn="bl" rotWithShape="0">
              <a:srgbClr val="000000">
                <a:alpha val="12000"/>
              </a:srgbClr>
            </a:outerShdw>
          </a:effectLst>
        </p:spPr>
        <p:txBody>
          <a:bodyPr/>
          <a:lstStyle/>
          <a:p>
            <a:endParaRPr lang="en-US"/>
          </a:p>
        </p:txBody>
      </p:sp>
      <p:sp>
        <p:nvSpPr>
          <p:cNvPr id="6" name="Shape 4"/>
          <p:cNvSpPr/>
          <p:nvPr/>
        </p:nvSpPr>
        <p:spPr>
          <a:xfrm>
            <a:off x="1271016" y="2029968"/>
            <a:ext cx="512064" cy="512064"/>
          </a:xfrm>
          <a:prstGeom prst="ellipse">
            <a:avLst/>
          </a:prstGeom>
          <a:solidFill>
            <a:srgbClr val="02C39A"/>
          </a:solidFill>
          <a:ln w="25400">
            <a:solidFill>
              <a:srgbClr val="FFFFFF"/>
            </a:solidFill>
            <a:prstDash val="solid"/>
          </a:ln>
        </p:spPr>
        <p:txBody>
          <a:bodyPr/>
          <a:lstStyle/>
          <a:p>
            <a:endParaRPr lang="en-US"/>
          </a:p>
        </p:txBody>
      </p:sp>
      <p:sp>
        <p:nvSpPr>
          <p:cNvPr id="7" name="Text 5"/>
          <p:cNvSpPr/>
          <p:nvPr/>
        </p:nvSpPr>
        <p:spPr>
          <a:xfrm>
            <a:off x="1271016" y="202996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640080" y="2670048"/>
            <a:ext cx="1773936" cy="502920"/>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Extensión (JS)</a:t>
            </a:r>
            <a:endParaRPr lang="en-US" sz="1350" dirty="0"/>
          </a:p>
        </p:txBody>
      </p:sp>
      <p:sp>
        <p:nvSpPr>
          <p:cNvPr id="9" name="Text 7"/>
          <p:cNvSpPr/>
          <p:nvPr/>
        </p:nvSpPr>
        <p:spPr>
          <a:xfrm>
            <a:off x="640080" y="3200400"/>
            <a:ext cx="1773936" cy="1097280"/>
          </a:xfrm>
          <a:prstGeom prst="rect">
            <a:avLst/>
          </a:prstGeom>
          <a:noFill/>
          <a:ln/>
        </p:spPr>
        <p:txBody>
          <a:bodyPr wrap="square" lIns="0" tIns="0" rIns="0" bIns="0" rtlCol="0" anchor="t"/>
          <a:lstStyle/>
          <a:p>
            <a:pPr marL="0" indent="0" algn="ctr">
              <a:lnSpc>
                <a:spcPct val="110000"/>
              </a:lnSpc>
              <a:buNone/>
            </a:pPr>
            <a:r>
              <a:rPr lang="en-US" sz="1050" dirty="0">
                <a:solidFill>
                  <a:srgbClr val="B9CBD0"/>
                </a:solidFill>
                <a:latin typeface="Calibri" pitchFamily="34" charset="0"/>
                <a:ea typeface="Calibri" pitchFamily="34" charset="-122"/>
                <a:cs typeface="Calibri" pitchFamily="34" charset="-120"/>
              </a:rPr>
              <a:t>El usuario hace clic; fetch() a /api/plugins/matchscore</a:t>
            </a:r>
            <a:endParaRPr lang="en-US" sz="1050" dirty="0"/>
          </a:p>
        </p:txBody>
      </p:sp>
      <p:sp>
        <p:nvSpPr>
          <p:cNvPr id="10" name="Shape 8"/>
          <p:cNvSpPr/>
          <p:nvPr/>
        </p:nvSpPr>
        <p:spPr>
          <a:xfrm>
            <a:off x="2569464" y="3291840"/>
            <a:ext cx="192024" cy="0"/>
          </a:xfrm>
          <a:prstGeom prst="line">
            <a:avLst/>
          </a:prstGeom>
          <a:noFill/>
          <a:ln w="19050">
            <a:solidFill>
              <a:srgbClr val="5B6B73"/>
            </a:solidFill>
            <a:prstDash val="solid"/>
            <a:tailEnd type="triangle"/>
          </a:ln>
        </p:spPr>
        <p:txBody>
          <a:bodyPr/>
          <a:lstStyle/>
          <a:p>
            <a:endParaRPr lang="en-US"/>
          </a:p>
        </p:txBody>
      </p:sp>
      <p:sp>
        <p:nvSpPr>
          <p:cNvPr id="11" name="Shape 9"/>
          <p:cNvSpPr/>
          <p:nvPr/>
        </p:nvSpPr>
        <p:spPr>
          <a:xfrm>
            <a:off x="2779776" y="2286000"/>
            <a:ext cx="2048256" cy="2103120"/>
          </a:xfrm>
          <a:prstGeom prst="roundRect">
            <a:avLst>
              <a:gd name="adj" fmla="val 3571"/>
            </a:avLst>
          </a:prstGeom>
          <a:solidFill>
            <a:srgbClr val="10293A"/>
          </a:solidFill>
          <a:ln/>
          <a:effectLst>
            <a:outerShdw blurRad="101600" dist="25400" dir="5400000" algn="bl" rotWithShape="0">
              <a:srgbClr val="000000">
                <a:alpha val="12000"/>
              </a:srgbClr>
            </a:outerShdw>
          </a:effectLst>
        </p:spPr>
        <p:txBody>
          <a:bodyPr/>
          <a:lstStyle/>
          <a:p>
            <a:endParaRPr lang="en-US"/>
          </a:p>
        </p:txBody>
      </p:sp>
      <p:sp>
        <p:nvSpPr>
          <p:cNvPr id="12" name="Shape 10"/>
          <p:cNvSpPr/>
          <p:nvPr/>
        </p:nvSpPr>
        <p:spPr>
          <a:xfrm>
            <a:off x="3547872" y="2029968"/>
            <a:ext cx="512064" cy="512064"/>
          </a:xfrm>
          <a:prstGeom prst="ellipse">
            <a:avLst/>
          </a:prstGeom>
          <a:solidFill>
            <a:srgbClr val="02C39A"/>
          </a:solidFill>
          <a:ln w="25400">
            <a:solidFill>
              <a:srgbClr val="FFFFFF"/>
            </a:solidFill>
            <a:prstDash val="solid"/>
          </a:ln>
        </p:spPr>
        <p:txBody>
          <a:bodyPr/>
          <a:lstStyle/>
          <a:p>
            <a:endParaRPr lang="en-US"/>
          </a:p>
        </p:txBody>
      </p:sp>
      <p:sp>
        <p:nvSpPr>
          <p:cNvPr id="13" name="Text 11"/>
          <p:cNvSpPr/>
          <p:nvPr/>
        </p:nvSpPr>
        <p:spPr>
          <a:xfrm>
            <a:off x="3547872" y="202996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4" name="Text 12"/>
          <p:cNvSpPr/>
          <p:nvPr/>
        </p:nvSpPr>
        <p:spPr>
          <a:xfrm>
            <a:off x="2916936" y="2670048"/>
            <a:ext cx="1773936" cy="502920"/>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Controller</a:t>
            </a:r>
            <a:endParaRPr lang="en-US" sz="1350" dirty="0"/>
          </a:p>
        </p:txBody>
      </p:sp>
      <p:sp>
        <p:nvSpPr>
          <p:cNvPr id="15" name="Text 13"/>
          <p:cNvSpPr/>
          <p:nvPr/>
        </p:nvSpPr>
        <p:spPr>
          <a:xfrm>
            <a:off x="2916936" y="3200400"/>
            <a:ext cx="1773936" cy="1097280"/>
          </a:xfrm>
          <a:prstGeom prst="rect">
            <a:avLst/>
          </a:prstGeom>
          <a:noFill/>
          <a:ln/>
        </p:spPr>
        <p:txBody>
          <a:bodyPr wrap="square" lIns="0" tIns="0" rIns="0" bIns="0" rtlCol="0" anchor="t"/>
          <a:lstStyle/>
          <a:p>
            <a:pPr marL="0" indent="0" algn="ctr">
              <a:lnSpc>
                <a:spcPct val="110000"/>
              </a:lnSpc>
              <a:buNone/>
            </a:pPr>
            <a:r>
              <a:rPr lang="en-US" sz="1050" dirty="0">
                <a:solidFill>
                  <a:srgbClr val="B9CBD0"/>
                </a:solidFill>
                <a:latin typeface="Calibri" pitchFamily="34" charset="0"/>
                <a:ea typeface="Calibri" pitchFamily="34" charset="-122"/>
                <a:cs typeface="Calibri" pitchFamily="34" charset="-120"/>
              </a:rPr>
              <a:t>Captura {name} y llama a _kernel.Run(name)</a:t>
            </a:r>
            <a:endParaRPr lang="en-US" sz="1050" dirty="0"/>
          </a:p>
        </p:txBody>
      </p:sp>
      <p:sp>
        <p:nvSpPr>
          <p:cNvPr id="16" name="Shape 14"/>
          <p:cNvSpPr/>
          <p:nvPr/>
        </p:nvSpPr>
        <p:spPr>
          <a:xfrm>
            <a:off x="4846320" y="3291840"/>
            <a:ext cx="192024" cy="0"/>
          </a:xfrm>
          <a:prstGeom prst="line">
            <a:avLst/>
          </a:prstGeom>
          <a:noFill/>
          <a:ln w="19050">
            <a:solidFill>
              <a:srgbClr val="5B6B73"/>
            </a:solidFill>
            <a:prstDash val="solid"/>
            <a:tailEnd type="triangle"/>
          </a:ln>
        </p:spPr>
        <p:txBody>
          <a:bodyPr/>
          <a:lstStyle/>
          <a:p>
            <a:endParaRPr lang="en-US"/>
          </a:p>
        </p:txBody>
      </p:sp>
      <p:sp>
        <p:nvSpPr>
          <p:cNvPr id="17" name="Shape 15"/>
          <p:cNvSpPr/>
          <p:nvPr/>
        </p:nvSpPr>
        <p:spPr>
          <a:xfrm>
            <a:off x="5056632" y="2286000"/>
            <a:ext cx="2048256" cy="2103120"/>
          </a:xfrm>
          <a:prstGeom prst="roundRect">
            <a:avLst>
              <a:gd name="adj" fmla="val 3571"/>
            </a:avLst>
          </a:prstGeom>
          <a:solidFill>
            <a:srgbClr val="10293A"/>
          </a:solidFill>
          <a:ln/>
          <a:effectLst>
            <a:outerShdw blurRad="101600" dist="25400" dir="5400000" algn="bl" rotWithShape="0">
              <a:srgbClr val="000000">
                <a:alpha val="12000"/>
              </a:srgbClr>
            </a:outerShdw>
          </a:effectLst>
        </p:spPr>
        <p:txBody>
          <a:bodyPr/>
          <a:lstStyle/>
          <a:p>
            <a:endParaRPr lang="en-US"/>
          </a:p>
        </p:txBody>
      </p:sp>
      <p:sp>
        <p:nvSpPr>
          <p:cNvPr id="18" name="Shape 16"/>
          <p:cNvSpPr/>
          <p:nvPr/>
        </p:nvSpPr>
        <p:spPr>
          <a:xfrm>
            <a:off x="5824728" y="2029968"/>
            <a:ext cx="512064" cy="512064"/>
          </a:xfrm>
          <a:prstGeom prst="ellipse">
            <a:avLst/>
          </a:prstGeom>
          <a:solidFill>
            <a:srgbClr val="02C39A"/>
          </a:solidFill>
          <a:ln w="25400">
            <a:solidFill>
              <a:srgbClr val="FFFFFF"/>
            </a:solidFill>
            <a:prstDash val="solid"/>
          </a:ln>
        </p:spPr>
        <p:txBody>
          <a:bodyPr/>
          <a:lstStyle/>
          <a:p>
            <a:endParaRPr lang="en-US"/>
          </a:p>
        </p:txBody>
      </p:sp>
      <p:sp>
        <p:nvSpPr>
          <p:cNvPr id="19" name="Text 17"/>
          <p:cNvSpPr/>
          <p:nvPr/>
        </p:nvSpPr>
        <p:spPr>
          <a:xfrm>
            <a:off x="5824728" y="202996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0" name="Text 18"/>
          <p:cNvSpPr/>
          <p:nvPr/>
        </p:nvSpPr>
        <p:spPr>
          <a:xfrm>
            <a:off x="5193792" y="2670048"/>
            <a:ext cx="1773936" cy="502920"/>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PluginManager</a:t>
            </a:r>
            <a:endParaRPr lang="en-US" sz="1350" dirty="0"/>
          </a:p>
        </p:txBody>
      </p:sp>
      <p:sp>
        <p:nvSpPr>
          <p:cNvPr id="21" name="Text 19"/>
          <p:cNvSpPr/>
          <p:nvPr/>
        </p:nvSpPr>
        <p:spPr>
          <a:xfrm>
            <a:off x="5193792" y="3200400"/>
            <a:ext cx="1773936" cy="1097280"/>
          </a:xfrm>
          <a:prstGeom prst="rect">
            <a:avLst/>
          </a:prstGeom>
          <a:noFill/>
          <a:ln/>
        </p:spPr>
        <p:txBody>
          <a:bodyPr wrap="square" lIns="0" tIns="0" rIns="0" bIns="0" rtlCol="0" anchor="t"/>
          <a:lstStyle/>
          <a:p>
            <a:pPr marL="0" indent="0" algn="ctr">
              <a:lnSpc>
                <a:spcPct val="110000"/>
              </a:lnSpc>
              <a:buNone/>
            </a:pPr>
            <a:r>
              <a:rPr lang="en-US" sz="1050" dirty="0">
                <a:solidFill>
                  <a:srgbClr val="B9CBD0"/>
                </a:solidFill>
                <a:latin typeface="Calibri" pitchFamily="34" charset="0"/>
                <a:ea typeface="Calibri" pitchFamily="34" charset="-122"/>
                <a:cs typeface="Calibri" pitchFamily="34" charset="-120"/>
              </a:rPr>
              <a:t>Busca el plugin en el diccionario por nombre</a:t>
            </a:r>
            <a:endParaRPr lang="en-US" sz="1050" dirty="0"/>
          </a:p>
        </p:txBody>
      </p:sp>
      <p:sp>
        <p:nvSpPr>
          <p:cNvPr id="22" name="Shape 20"/>
          <p:cNvSpPr/>
          <p:nvPr/>
        </p:nvSpPr>
        <p:spPr>
          <a:xfrm>
            <a:off x="7123176" y="3291840"/>
            <a:ext cx="192024" cy="0"/>
          </a:xfrm>
          <a:prstGeom prst="line">
            <a:avLst/>
          </a:prstGeom>
          <a:noFill/>
          <a:ln w="19050">
            <a:solidFill>
              <a:srgbClr val="5B6B73"/>
            </a:solidFill>
            <a:prstDash val="solid"/>
            <a:tailEnd type="triangle"/>
          </a:ln>
        </p:spPr>
        <p:txBody>
          <a:bodyPr/>
          <a:lstStyle/>
          <a:p>
            <a:endParaRPr lang="en-US"/>
          </a:p>
        </p:txBody>
      </p:sp>
      <p:sp>
        <p:nvSpPr>
          <p:cNvPr id="23" name="Shape 21"/>
          <p:cNvSpPr/>
          <p:nvPr/>
        </p:nvSpPr>
        <p:spPr>
          <a:xfrm>
            <a:off x="7333488" y="2286000"/>
            <a:ext cx="2048256" cy="2103120"/>
          </a:xfrm>
          <a:prstGeom prst="roundRect">
            <a:avLst>
              <a:gd name="adj" fmla="val 3571"/>
            </a:avLst>
          </a:prstGeom>
          <a:solidFill>
            <a:srgbClr val="10293A"/>
          </a:solidFill>
          <a:ln/>
          <a:effectLst>
            <a:outerShdw blurRad="101600" dist="25400" dir="5400000" algn="bl" rotWithShape="0">
              <a:srgbClr val="000000">
                <a:alpha val="12000"/>
              </a:srgbClr>
            </a:outerShdw>
          </a:effectLst>
        </p:spPr>
        <p:txBody>
          <a:bodyPr/>
          <a:lstStyle/>
          <a:p>
            <a:endParaRPr lang="en-US"/>
          </a:p>
        </p:txBody>
      </p:sp>
      <p:sp>
        <p:nvSpPr>
          <p:cNvPr id="24" name="Shape 22"/>
          <p:cNvSpPr/>
          <p:nvPr/>
        </p:nvSpPr>
        <p:spPr>
          <a:xfrm>
            <a:off x="8101584" y="2029968"/>
            <a:ext cx="512064" cy="512064"/>
          </a:xfrm>
          <a:prstGeom prst="ellipse">
            <a:avLst/>
          </a:prstGeom>
          <a:solidFill>
            <a:srgbClr val="02C39A"/>
          </a:solidFill>
          <a:ln w="25400">
            <a:solidFill>
              <a:srgbClr val="FFFFFF"/>
            </a:solidFill>
            <a:prstDash val="solid"/>
          </a:ln>
        </p:spPr>
        <p:txBody>
          <a:bodyPr/>
          <a:lstStyle/>
          <a:p>
            <a:endParaRPr lang="en-US"/>
          </a:p>
        </p:txBody>
      </p:sp>
      <p:sp>
        <p:nvSpPr>
          <p:cNvPr id="25" name="Text 23"/>
          <p:cNvSpPr/>
          <p:nvPr/>
        </p:nvSpPr>
        <p:spPr>
          <a:xfrm>
            <a:off x="8101584" y="202996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6" name="Text 24"/>
          <p:cNvSpPr/>
          <p:nvPr/>
        </p:nvSpPr>
        <p:spPr>
          <a:xfrm>
            <a:off x="7470648" y="2670048"/>
            <a:ext cx="1773936" cy="502920"/>
          </a:xfrm>
          <a:prstGeom prst="rect">
            <a:avLst/>
          </a:prstGeom>
          <a:noFill/>
          <a:ln/>
        </p:spPr>
        <p:txBody>
          <a:bodyPr wrap="square" lIns="0" tIns="0" rIns="0" bIns="0" rtlCol="0" anchor="t"/>
          <a:lstStyle/>
          <a:p>
            <a:pPr marL="0" indent="0" algn="ctr">
              <a:buNone/>
            </a:pPr>
            <a:r>
              <a:rPr lang="en-US" sz="1350" b="1" dirty="0">
                <a:solidFill>
                  <a:srgbClr val="FFFFFF"/>
                </a:solidFill>
                <a:latin typeface="Calibri" pitchFamily="34" charset="0"/>
                <a:ea typeface="Calibri" pitchFamily="34" charset="-122"/>
                <a:cs typeface="Calibri" pitchFamily="34" charset="-120"/>
              </a:rPr>
              <a:t>Plugin.Execute()</a:t>
            </a:r>
            <a:endParaRPr lang="en-US" sz="1350" dirty="0"/>
          </a:p>
        </p:txBody>
      </p:sp>
      <p:sp>
        <p:nvSpPr>
          <p:cNvPr id="27" name="Text 25"/>
          <p:cNvSpPr/>
          <p:nvPr/>
        </p:nvSpPr>
        <p:spPr>
          <a:xfrm>
            <a:off x="7470648" y="3200400"/>
            <a:ext cx="1773936" cy="1097280"/>
          </a:xfrm>
          <a:prstGeom prst="rect">
            <a:avLst/>
          </a:prstGeom>
          <a:noFill/>
          <a:ln/>
        </p:spPr>
        <p:txBody>
          <a:bodyPr wrap="square" lIns="0" tIns="0" rIns="0" bIns="0" rtlCol="0" anchor="t"/>
          <a:lstStyle/>
          <a:p>
            <a:pPr marL="0" indent="0" algn="ctr">
              <a:lnSpc>
                <a:spcPct val="110000"/>
              </a:lnSpc>
              <a:buNone/>
            </a:pPr>
            <a:r>
              <a:rPr lang="en-US" sz="1050" dirty="0">
                <a:solidFill>
                  <a:srgbClr val="B9CBD0"/>
                </a:solidFill>
                <a:latin typeface="Calibri" pitchFamily="34" charset="0"/>
                <a:ea typeface="Calibri" pitchFamily="34" charset="-122"/>
                <a:cs typeface="Calibri" pitchFamily="34" charset="-120"/>
              </a:rPr>
              <a:t>Ejecuta la lógica y devuelve el resultado</a:t>
            </a:r>
            <a:endParaRPr lang="en-US" sz="1050" dirty="0"/>
          </a:p>
        </p:txBody>
      </p:sp>
      <p:sp>
        <p:nvSpPr>
          <p:cNvPr id="28" name="Shape 26"/>
          <p:cNvSpPr/>
          <p:nvPr/>
        </p:nvSpPr>
        <p:spPr>
          <a:xfrm>
            <a:off x="9400032" y="3291840"/>
            <a:ext cx="192024" cy="0"/>
          </a:xfrm>
          <a:prstGeom prst="line">
            <a:avLst/>
          </a:prstGeom>
          <a:noFill/>
          <a:ln w="19050">
            <a:solidFill>
              <a:srgbClr val="5B6B73"/>
            </a:solidFill>
            <a:prstDash val="solid"/>
            <a:tailEnd type="triangle"/>
          </a:ln>
        </p:spPr>
        <p:txBody>
          <a:bodyPr/>
          <a:lstStyle/>
          <a:p>
            <a:endParaRPr lang="en-US"/>
          </a:p>
        </p:txBody>
      </p:sp>
      <p:sp>
        <p:nvSpPr>
          <p:cNvPr id="29" name="Shape 27"/>
          <p:cNvSpPr/>
          <p:nvPr/>
        </p:nvSpPr>
        <p:spPr>
          <a:xfrm>
            <a:off x="9610344" y="2286000"/>
            <a:ext cx="2048256" cy="2103120"/>
          </a:xfrm>
          <a:prstGeom prst="roundRect">
            <a:avLst>
              <a:gd name="adj" fmla="val 3571"/>
            </a:avLst>
          </a:prstGeom>
          <a:solidFill>
            <a:srgbClr val="02C39A"/>
          </a:solidFill>
          <a:ln/>
          <a:effectLst>
            <a:outerShdw blurRad="101600" dist="25400" dir="5400000" algn="bl" rotWithShape="0">
              <a:srgbClr val="000000">
                <a:alpha val="12000"/>
              </a:srgbClr>
            </a:outerShdw>
          </a:effectLst>
        </p:spPr>
        <p:txBody>
          <a:bodyPr/>
          <a:lstStyle/>
          <a:p>
            <a:endParaRPr lang="en-US"/>
          </a:p>
        </p:txBody>
      </p:sp>
      <p:sp>
        <p:nvSpPr>
          <p:cNvPr id="30" name="Shape 28"/>
          <p:cNvSpPr/>
          <p:nvPr/>
        </p:nvSpPr>
        <p:spPr>
          <a:xfrm>
            <a:off x="10378440" y="2029968"/>
            <a:ext cx="512064" cy="512064"/>
          </a:xfrm>
          <a:prstGeom prst="ellipse">
            <a:avLst/>
          </a:prstGeom>
          <a:solidFill>
            <a:srgbClr val="0B1F2A"/>
          </a:solidFill>
          <a:ln w="25400">
            <a:solidFill>
              <a:srgbClr val="FFFFFF"/>
            </a:solidFill>
            <a:prstDash val="solid"/>
          </a:ln>
        </p:spPr>
        <p:txBody>
          <a:bodyPr/>
          <a:lstStyle/>
          <a:p>
            <a:endParaRPr lang="en-US"/>
          </a:p>
        </p:txBody>
      </p:sp>
      <p:sp>
        <p:nvSpPr>
          <p:cNvPr id="31" name="Text 29"/>
          <p:cNvSpPr/>
          <p:nvPr/>
        </p:nvSpPr>
        <p:spPr>
          <a:xfrm>
            <a:off x="10378440" y="202996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2" name="Text 30"/>
          <p:cNvSpPr/>
          <p:nvPr/>
        </p:nvSpPr>
        <p:spPr>
          <a:xfrm>
            <a:off x="9747504" y="2670048"/>
            <a:ext cx="1773936" cy="502920"/>
          </a:xfrm>
          <a:prstGeom prst="rect">
            <a:avLst/>
          </a:prstGeom>
          <a:noFill/>
          <a:ln/>
        </p:spPr>
        <p:txBody>
          <a:bodyPr wrap="square" lIns="0" tIns="0" rIns="0" bIns="0" rtlCol="0" anchor="t"/>
          <a:lstStyle/>
          <a:p>
            <a:pPr marL="0" indent="0" algn="ctr">
              <a:buNone/>
            </a:pPr>
            <a:r>
              <a:rPr lang="en-US" sz="1350" b="1" dirty="0">
                <a:solidFill>
                  <a:srgbClr val="0B1F2A"/>
                </a:solidFill>
                <a:latin typeface="Calibri" pitchFamily="34" charset="0"/>
                <a:ea typeface="Calibri" pitchFamily="34" charset="-122"/>
                <a:cs typeface="Calibri" pitchFamily="34" charset="-120"/>
              </a:rPr>
              <a:t>JSON → Tarjeta</a:t>
            </a:r>
            <a:endParaRPr lang="en-US" sz="1350" dirty="0"/>
          </a:p>
        </p:txBody>
      </p:sp>
      <p:sp>
        <p:nvSpPr>
          <p:cNvPr id="33" name="Text 31"/>
          <p:cNvSpPr/>
          <p:nvPr/>
        </p:nvSpPr>
        <p:spPr>
          <a:xfrm>
            <a:off x="9747504" y="3200400"/>
            <a:ext cx="1773936" cy="1097280"/>
          </a:xfrm>
          <a:prstGeom prst="rect">
            <a:avLst/>
          </a:prstGeom>
          <a:noFill/>
          <a:ln/>
        </p:spPr>
        <p:txBody>
          <a:bodyPr wrap="square" lIns="0" tIns="0" rIns="0" bIns="0" rtlCol="0" anchor="t"/>
          <a:lstStyle/>
          <a:p>
            <a:pPr marL="0" indent="0" algn="ctr">
              <a:lnSpc>
                <a:spcPct val="110000"/>
              </a:lnSpc>
              <a:buNone/>
            </a:pPr>
            <a:r>
              <a:rPr lang="en-US" sz="1050" dirty="0">
                <a:solidFill>
                  <a:srgbClr val="0B1F2A"/>
                </a:solidFill>
                <a:latin typeface="Calibri" pitchFamily="34" charset="0"/>
                <a:ea typeface="Calibri" pitchFamily="34" charset="-122"/>
                <a:cs typeface="Calibri" pitchFamily="34" charset="-120"/>
              </a:rPr>
              <a:t>popup.js recibe el JSON y renderiza la tarjeta visual</a:t>
            </a:r>
            <a:endParaRPr lang="en-US" sz="1050" dirty="0"/>
          </a:p>
        </p:txBody>
      </p:sp>
      <p:sp>
        <p:nvSpPr>
          <p:cNvPr id="34" name="Text 32"/>
          <p:cNvSpPr/>
          <p:nvPr/>
        </p:nvSpPr>
        <p:spPr>
          <a:xfrm>
            <a:off x="502920" y="6510528"/>
            <a:ext cx="8229600" cy="228600"/>
          </a:xfrm>
          <a:prstGeom prst="rect">
            <a:avLst/>
          </a:prstGeom>
          <a:noFill/>
          <a:ln/>
        </p:spPr>
        <p:txBody>
          <a:bodyPr wrap="square" lIns="0" tIns="0" rIns="0" bIns="0" rtlCol="0" anchor="ctr"/>
          <a:lstStyle/>
          <a:p>
            <a:pPr marL="0" indent="0" algn="l">
              <a:buNone/>
            </a:pPr>
            <a:r>
              <a:rPr lang="en-US" sz="950" i="1" dirty="0">
                <a:solidFill>
                  <a:srgbClr val="5B6B73"/>
                </a:solidFill>
                <a:latin typeface="Calibri" pitchFamily="34" charset="0"/>
                <a:ea typeface="Calibri" pitchFamily="34" charset="-122"/>
                <a:cs typeface="Calibri" pitchFamily="34" charset="-120"/>
              </a:rPr>
              <a:t>Este es el mismo flujo del diagrama de secuencia de la teoría: arranque + ejecución de una acción.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0B1F2A"/>
        </a:solidFill>
        <a:effectLst/>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rgbClr val="0E7C7B">
              <a:alpha val="18000"/>
            </a:srgbClr>
          </a:solidFill>
          <a:ln/>
        </p:spPr>
        <p:txBody>
          <a:bodyPr/>
          <a:lstStyle/>
          <a:p>
            <a:endParaRPr lang="en-US"/>
          </a:p>
        </p:txBody>
      </p:sp>
      <p:sp>
        <p:nvSpPr>
          <p:cNvPr id="3" name="Text 1"/>
          <p:cNvSpPr/>
          <p:nvPr/>
        </p:nvSpPr>
        <p:spPr>
          <a:xfrm>
            <a:off x="777240" y="1463040"/>
            <a:ext cx="10515600" cy="73152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Núcleo estable + extensiones conectables</a:t>
            </a:r>
            <a:endParaRPr lang="en-US" sz="3000" dirty="0"/>
          </a:p>
        </p:txBody>
      </p:sp>
      <p:sp>
        <p:nvSpPr>
          <p:cNvPr id="4" name="Text 2"/>
          <p:cNvSpPr/>
          <p:nvPr/>
        </p:nvSpPr>
        <p:spPr>
          <a:xfrm>
            <a:off x="777240" y="2331720"/>
            <a:ext cx="9875520" cy="914400"/>
          </a:xfrm>
          <a:prstGeom prst="rect">
            <a:avLst/>
          </a:prstGeom>
          <a:noFill/>
          <a:ln/>
        </p:spPr>
        <p:txBody>
          <a:bodyPr wrap="square" lIns="0" tIns="0" rIns="0" bIns="0" rtlCol="0" anchor="ctr"/>
          <a:lstStyle/>
          <a:p>
            <a:pPr marL="0" indent="0">
              <a:lnSpc>
                <a:spcPct val="125000"/>
              </a:lnSpc>
              <a:buNone/>
            </a:pPr>
            <a:r>
              <a:rPr lang="en-US" sz="1500" dirty="0">
                <a:solidFill>
                  <a:srgbClr val="DCE7E9"/>
                </a:solidFill>
                <a:latin typeface="Calibri" pitchFamily="34" charset="0"/>
                <a:ea typeface="Calibri" pitchFamily="34" charset="-122"/>
                <a:cs typeface="Calibri" pitchFamily="34" charset="-120"/>
              </a:rPr>
              <a:t>El PluginManager es genérico y estable; los plugins son independientes y se comunican vía IAppContext; el Controller solo traduce HTTP a llamadas del núcleo. Así se demuestra en código real lo que dice la teoría.</a:t>
            </a:r>
            <a:endParaRPr lang="en-US" sz="1500" dirty="0"/>
          </a:p>
        </p:txBody>
      </p:sp>
      <p:sp>
        <p:nvSpPr>
          <p:cNvPr id="5" name="Shape 3"/>
          <p:cNvSpPr/>
          <p:nvPr/>
        </p:nvSpPr>
        <p:spPr>
          <a:xfrm>
            <a:off x="777240" y="3749040"/>
            <a:ext cx="3383280" cy="1371600"/>
          </a:xfrm>
          <a:prstGeom prst="roundRect">
            <a:avLst>
              <a:gd name="adj" fmla="val 5333"/>
            </a:avLst>
          </a:prstGeom>
          <a:solidFill>
            <a:srgbClr val="10293A"/>
          </a:solidFill>
          <a:ln/>
          <a:effectLst>
            <a:outerShdw blurRad="101600" dist="25400" dir="5400000" algn="bl" rotWithShape="0">
              <a:srgbClr val="000000">
                <a:alpha val="12000"/>
              </a:srgbClr>
            </a:outerShdw>
          </a:effectLst>
        </p:spPr>
        <p:txBody>
          <a:bodyPr/>
          <a:lstStyle/>
          <a:p>
            <a:endParaRPr lang="en-US"/>
          </a:p>
        </p:txBody>
      </p:sp>
      <p:pic>
        <p:nvPicPr>
          <p:cNvPr id="6" name="Image 0" descr="icon_server.png"/>
          <p:cNvPicPr>
            <a:picLocks noChangeAspect="1"/>
          </p:cNvPicPr>
          <p:nvPr/>
        </p:nvPicPr>
        <p:blipFill>
          <a:blip r:embed="rId3"/>
          <a:stretch>
            <a:fillRect/>
          </a:stretch>
        </p:blipFill>
        <p:spPr>
          <a:xfrm>
            <a:off x="1051560" y="4023360"/>
            <a:ext cx="457200" cy="457200"/>
          </a:xfrm>
          <a:prstGeom prst="rect">
            <a:avLst/>
          </a:prstGeom>
        </p:spPr>
      </p:pic>
      <p:sp>
        <p:nvSpPr>
          <p:cNvPr id="7" name="Text 4"/>
          <p:cNvSpPr/>
          <p:nvPr/>
        </p:nvSpPr>
        <p:spPr>
          <a:xfrm>
            <a:off x="1645920" y="3977640"/>
            <a:ext cx="2286000"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Core</a:t>
            </a:r>
            <a:endParaRPr lang="en-US" sz="1450" dirty="0"/>
          </a:p>
        </p:txBody>
      </p:sp>
      <p:sp>
        <p:nvSpPr>
          <p:cNvPr id="8" name="Text 5"/>
          <p:cNvSpPr/>
          <p:nvPr/>
        </p:nvSpPr>
        <p:spPr>
          <a:xfrm>
            <a:off x="1645920" y="4315968"/>
            <a:ext cx="2286000" cy="365760"/>
          </a:xfrm>
          <a:prstGeom prst="rect">
            <a:avLst/>
          </a:prstGeom>
          <a:noFill/>
          <a:ln/>
        </p:spPr>
        <p:txBody>
          <a:bodyPr wrap="square" lIns="0" tIns="0" rIns="0" bIns="0" rtlCol="0" anchor="ctr"/>
          <a:lstStyle/>
          <a:p>
            <a:pPr marL="0" indent="0">
              <a:buNone/>
            </a:pPr>
            <a:r>
              <a:rPr lang="en-US" sz="1150" dirty="0">
                <a:solidFill>
                  <a:srgbClr val="BFEFE0"/>
                </a:solidFill>
                <a:latin typeface="Calibri" pitchFamily="34" charset="0"/>
                <a:ea typeface="Calibri" pitchFamily="34" charset="-122"/>
                <a:cs typeface="Calibri" pitchFamily="34" charset="-120"/>
              </a:rPr>
              <a:t>Genérico, estable</a:t>
            </a:r>
            <a:endParaRPr lang="en-US" sz="1150" dirty="0"/>
          </a:p>
        </p:txBody>
      </p:sp>
      <p:sp>
        <p:nvSpPr>
          <p:cNvPr id="9" name="Shape 6"/>
          <p:cNvSpPr/>
          <p:nvPr/>
        </p:nvSpPr>
        <p:spPr>
          <a:xfrm>
            <a:off x="4343400" y="3749040"/>
            <a:ext cx="3383280" cy="1371600"/>
          </a:xfrm>
          <a:prstGeom prst="roundRect">
            <a:avLst>
              <a:gd name="adj" fmla="val 5333"/>
            </a:avLst>
          </a:prstGeom>
          <a:solidFill>
            <a:srgbClr val="10293A"/>
          </a:solidFill>
          <a:ln/>
          <a:effectLst>
            <a:outerShdw blurRad="101600" dist="25400" dir="5400000" algn="bl" rotWithShape="0">
              <a:srgbClr val="000000">
                <a:alpha val="12000"/>
              </a:srgbClr>
            </a:outerShdw>
          </a:effectLst>
        </p:spPr>
        <p:txBody>
          <a:bodyPr/>
          <a:lstStyle/>
          <a:p>
            <a:endParaRPr lang="en-US"/>
          </a:p>
        </p:txBody>
      </p:sp>
      <p:pic>
        <p:nvPicPr>
          <p:cNvPr id="10" name="Image 1" descr="icon_puzzle.png"/>
          <p:cNvPicPr>
            <a:picLocks noChangeAspect="1"/>
          </p:cNvPicPr>
          <p:nvPr/>
        </p:nvPicPr>
        <p:blipFill>
          <a:blip r:embed="rId4"/>
          <a:stretch>
            <a:fillRect/>
          </a:stretch>
        </p:blipFill>
        <p:spPr>
          <a:xfrm>
            <a:off x="4617720" y="4023360"/>
            <a:ext cx="457200" cy="457200"/>
          </a:xfrm>
          <a:prstGeom prst="rect">
            <a:avLst/>
          </a:prstGeom>
        </p:spPr>
      </p:pic>
      <p:sp>
        <p:nvSpPr>
          <p:cNvPr id="11" name="Text 7"/>
          <p:cNvSpPr/>
          <p:nvPr/>
        </p:nvSpPr>
        <p:spPr>
          <a:xfrm>
            <a:off x="5212080" y="3977640"/>
            <a:ext cx="2286000"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Plugins</a:t>
            </a:r>
            <a:endParaRPr lang="en-US" sz="1450" dirty="0"/>
          </a:p>
        </p:txBody>
      </p:sp>
      <p:sp>
        <p:nvSpPr>
          <p:cNvPr id="12" name="Text 8"/>
          <p:cNvSpPr/>
          <p:nvPr/>
        </p:nvSpPr>
        <p:spPr>
          <a:xfrm>
            <a:off x="5212080" y="4315968"/>
            <a:ext cx="2286000" cy="365760"/>
          </a:xfrm>
          <a:prstGeom prst="rect">
            <a:avLst/>
          </a:prstGeom>
          <a:noFill/>
          <a:ln/>
        </p:spPr>
        <p:txBody>
          <a:bodyPr wrap="square" lIns="0" tIns="0" rIns="0" bIns="0" rtlCol="0" anchor="ctr"/>
          <a:lstStyle/>
          <a:p>
            <a:pPr marL="0" indent="0">
              <a:buNone/>
            </a:pPr>
            <a:r>
              <a:rPr lang="en-US" sz="1150" dirty="0">
                <a:solidFill>
                  <a:srgbClr val="BFEFE0"/>
                </a:solidFill>
                <a:latin typeface="Calibri" pitchFamily="34" charset="0"/>
                <a:ea typeface="Calibri" pitchFamily="34" charset="-122"/>
                <a:cs typeface="Calibri" pitchFamily="34" charset="-120"/>
              </a:rPr>
              <a:t>Independientes</a:t>
            </a:r>
            <a:endParaRPr lang="en-US" sz="1150" dirty="0"/>
          </a:p>
        </p:txBody>
      </p:sp>
      <p:sp>
        <p:nvSpPr>
          <p:cNvPr id="13" name="Shape 9"/>
          <p:cNvSpPr/>
          <p:nvPr/>
        </p:nvSpPr>
        <p:spPr>
          <a:xfrm>
            <a:off x="7909560" y="3749040"/>
            <a:ext cx="3383280" cy="1371600"/>
          </a:xfrm>
          <a:prstGeom prst="roundRect">
            <a:avLst>
              <a:gd name="adj" fmla="val 5333"/>
            </a:avLst>
          </a:prstGeom>
          <a:solidFill>
            <a:srgbClr val="10293A"/>
          </a:solidFill>
          <a:ln/>
          <a:effectLst>
            <a:outerShdw blurRad="101600" dist="25400" dir="5400000" algn="bl" rotWithShape="0">
              <a:srgbClr val="000000">
                <a:alpha val="12000"/>
              </a:srgbClr>
            </a:outerShdw>
          </a:effectLst>
        </p:spPr>
        <p:txBody>
          <a:bodyPr/>
          <a:lstStyle/>
          <a:p>
            <a:endParaRPr lang="en-US"/>
          </a:p>
        </p:txBody>
      </p:sp>
      <p:pic>
        <p:nvPicPr>
          <p:cNvPr id="14" name="Image 2" descr="icon_exchange_white.png"/>
          <p:cNvPicPr>
            <a:picLocks noChangeAspect="1"/>
          </p:cNvPicPr>
          <p:nvPr/>
        </p:nvPicPr>
        <p:blipFill>
          <a:blip r:embed="rId5"/>
          <a:stretch>
            <a:fillRect/>
          </a:stretch>
        </p:blipFill>
        <p:spPr>
          <a:xfrm>
            <a:off x="8183880" y="4023360"/>
            <a:ext cx="457200" cy="457200"/>
          </a:xfrm>
          <a:prstGeom prst="rect">
            <a:avLst/>
          </a:prstGeom>
        </p:spPr>
      </p:pic>
      <p:sp>
        <p:nvSpPr>
          <p:cNvPr id="15" name="Text 10"/>
          <p:cNvSpPr/>
          <p:nvPr/>
        </p:nvSpPr>
        <p:spPr>
          <a:xfrm>
            <a:off x="8778240" y="3977640"/>
            <a:ext cx="2286000"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Controller</a:t>
            </a:r>
            <a:endParaRPr lang="en-US" sz="1450" dirty="0"/>
          </a:p>
        </p:txBody>
      </p:sp>
      <p:sp>
        <p:nvSpPr>
          <p:cNvPr id="16" name="Text 11"/>
          <p:cNvSpPr/>
          <p:nvPr/>
        </p:nvSpPr>
        <p:spPr>
          <a:xfrm>
            <a:off x="8778240" y="4315968"/>
            <a:ext cx="2286000" cy="365760"/>
          </a:xfrm>
          <a:prstGeom prst="rect">
            <a:avLst/>
          </a:prstGeom>
          <a:noFill/>
          <a:ln/>
        </p:spPr>
        <p:txBody>
          <a:bodyPr wrap="square" lIns="0" tIns="0" rIns="0" bIns="0" rtlCol="0" anchor="ctr"/>
          <a:lstStyle/>
          <a:p>
            <a:pPr marL="0" indent="0">
              <a:buNone/>
            </a:pPr>
            <a:r>
              <a:rPr lang="en-US" sz="1150" dirty="0">
                <a:solidFill>
                  <a:srgbClr val="BFEFE0"/>
                </a:solidFill>
                <a:latin typeface="Calibri" pitchFamily="34" charset="0"/>
                <a:ea typeface="Calibri" pitchFamily="34" charset="-122"/>
                <a:cs typeface="Calibri" pitchFamily="34" charset="-120"/>
              </a:rPr>
              <a:t>Solo traduce HTTP</a:t>
            </a:r>
            <a:endParaRPr lang="en-US" sz="1150" dirty="0"/>
          </a:p>
        </p:txBody>
      </p:sp>
      <p:sp>
        <p:nvSpPr>
          <p:cNvPr id="17" name="Text 12"/>
          <p:cNvSpPr/>
          <p:nvPr/>
        </p:nvSpPr>
        <p:spPr>
          <a:xfrm>
            <a:off x="777240" y="5623560"/>
            <a:ext cx="5486400" cy="548640"/>
          </a:xfrm>
          <a:prstGeom prst="rect">
            <a:avLst/>
          </a:prstGeom>
          <a:noFill/>
          <a:ln/>
        </p:spPr>
        <p:txBody>
          <a:bodyPr wrap="square" lIns="0" tIns="0" rIns="0" bIns="0" rtlCol="0" anchor="ctr"/>
          <a:lstStyle/>
          <a:p>
            <a:pPr marL="0" indent="0">
              <a:buNone/>
            </a:pPr>
            <a:r>
              <a:rPr lang="en-US" sz="2400" b="1" dirty="0">
                <a:solidFill>
                  <a:srgbClr val="02C39A"/>
                </a:solidFill>
                <a:latin typeface="Cambria" pitchFamily="34" charset="0"/>
                <a:ea typeface="Cambria" pitchFamily="34" charset="-122"/>
                <a:cs typeface="Cambria" pitchFamily="34" charset="-120"/>
              </a:rPr>
              <a:t>Gracias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1257</Words>
  <Application>Microsoft Office PowerPoint</Application>
  <PresentationFormat>Widescreen</PresentationFormat>
  <Paragraphs>111</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Arquitectura Microkernel - Proyecto Mundial</dc:title>
  <dc:subject>PptxGenJS Presentation</dc:subject>
  <dc:creator>Jose</dc:creator>
  <cp:lastModifiedBy>José Antonio Julca Díaz</cp:lastModifiedBy>
  <cp:revision>3</cp:revision>
  <dcterms:created xsi:type="dcterms:W3CDTF">2026-06-18T02:59:38Z</dcterms:created>
  <dcterms:modified xsi:type="dcterms:W3CDTF">2026-06-18T03:23:02Z</dcterms:modified>
</cp:coreProperties>
</file>